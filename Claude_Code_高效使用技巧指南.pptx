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68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 dirty="0"/>
              <a:t>大家好，欢迎来到今天的分享。我们将深入探讨 Claude Code 的高效使用技巧。Anthropic 推出的 Claude Code 是一个强大的命令行 AI 助手，它能将 AI 深度集成到你的终端工作流中。今天，我将为大家精选 30 个核心技巧，帮助大家显著提升开发效率。这些技巧涵盖了从基础配置到高级自动化、再到团队协作的方方面面。让我们一起探索如何让 AI 成为你终端里最得力的助手。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在掌握了 Claude Code 的核心价值后，我们首先从界面自定义和基础命令入手。技巧一，就是自定义你的状态栏。你可以实时显示模型名称、当前目录、Git 分支，甚至监控 Token 使用量，让你对工作环境一目了然。同时，我们还支持 10 种颜色主题，让你的终端更个性化。技巧二，是掌握常用的斜杠命令。比如，使用 /usage 监控速率限制，/chrome 开启浏览器集成，或者 /mcp 管理模型上下文协议服务器。这些命令能让你快速调整设置，提高操作效率。接下来，我们将探讨如何与 Claude Code 进行更深层次的交互。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从基础命令过渡到更智能的交互，我们来看看技巧三和技巧四。技巧三是利用 Voice 模式进行语音交互。无论你是喜欢免提的 Hands-free 模式，还是在嘈杂环境中需要精准控制的 Push-to-talk 模式，Voice 模式都能让你解放双手，更自然地与 AI 对话。而技巧四，也是最核心的思维方式，就是分解复杂问题。当面对一个大任务时，不要指望 Claude 一次性解决。你需要引导它将问题拆解成更小、更易于管理的子问题，然后逐一解决。持续分解直到每个环节都清晰可执行，这是使用 Claude Code 最重要的最佳实践。现在，我们来看看如何高效地管理输出和上下文。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在掌握了问题分解的核心思维后，我们来看看如何高效管理 Claude Code 的输出和上下文。技巧五是多样化输出。你可以使用 /copy 或 pbcopy 快速将响应复制到剪贴板，也可以直接将内容写入文件并在 VS Code 中打开，甚至在浏览器中打开生成的 URL。这让你的工作流更加顺畅。技巧六是上下文管理。对于长时间的对话，使用 /compact 可以总结对话内容，释放宝贵的 Token 空间。另一个强大功能是计划模式，按两次 Shift+Tab 即可进入。你可以在计划模式下先与 Claude 讨论方案，确认无误后再执行，避免不必要的资源消耗。接下来，我们将探讨如何处理网页访问和并行开发。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在高效管理输出和上下文之后，我们来看看如何扩展 Claude Code 的能力，处理网页访问和并行开发。技巧七是内容获取技巧。当 Claude 无法直接访问受限 URL 时，最简单的方法就是手动全选复制网页内容，然后直接粘贴到对话框中。技巧八，如果内置的 WebFetch 仍然受限，你可以利用 Gemini CLI 作为后备方案，确保信息获取的连续性。最后是技巧九，Git Worktree 并行开发。让 Claude 帮你创建 worktree，你就可以在不同的目录中同时处理多个分支任务，无需频繁切换，大幅提升多任务效率。这些技巧将帮助你更好地利用 AI，应对更复杂的开发场景。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我们已经看到了如何并行开发，但长时间任务呢？别担心，Claude Code 提供了强大的长任务处理和恢复策略。这里，指数退避、后台验证和 Ralph Wiggum 插件能让 Claude 自动循环检查，直到任务完成，这大大减少了我们的手动干预。但记住，要在关键检查点进行验证，确保一切都在预期之内。而且，如果对话中断了，或者你犯了个小错误，`claude --continue` 和 `/rewind` 就像时间机器一样，让你轻松回到正确的轨道。不过，如果同一个问题纠正两次都失败了，那就果断 `/clear` 重新开始吧，别浪费时间。接下来，我们看看如何通过扩展机制，让 Claude 变得更强大、更通用。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现在，我们来聊聊 Claude Code 的扩展机制，这可是它成为通用 Agent 的核心。我们有四层扩展体系：从项目级的 `CLAUDE.md` 提示词，到结构化的 Skills，再到自定义的斜杠命令，最后是功能强大的插件。这些层级让你能根据需求，深度定制 Claude 的行为。更厉害的是，通过 MCP，Claude 能集成 Slack、BigQuery 甚至 Sentry，处理各种运维和沟通任务。这意味着，Claude 不仅仅是你的编码助手，它还能成为连接所有开发工具的中心枢纽。那么，当 Claude 变得如此强大，我们如何利用它来自动化更复杂的流程，甚至组建一个 Agent 团队呢？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有了强大的扩展能力，我们自然要追求自动化和更高级的协作。这里，`Ctrl+B` 可以把耗时任务扔到后台，让你继续手头的工作，互不干扰。但真正的亮点是 Subagents，它们能在独立的上下文里运行，就像是 Claude 的分身，专门用来调查代码、验证实现，而不会污染你的主对话。想象一下，你可以组建一个 Agent 团队，比如 Explore 代理负责代码探索，Plan 和 General 代理负责规划和执行，这对于大型重构或全栈功能开发来说，简直是效率倍增器。这些子代理和团队协作，极大地提高了我们处理复杂问题的上限。接下来，我们聊聊一些实用的输入导航技巧和远程控制功能，让你的操作更流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现在，我们来关注一些细节，这些细节能让你的 Claude Code 体验更加顺畅。终端导航快捷键，比如 `Ctrl+A/E` 和 `Opt+←/→`，能让你在输入时像飞一样。如果你需要输入多行指令，只需在行尾加上 `\`，然后回车，Claude 就会知道你还没说完。更酷的是远程控制功能，`claude remote-control` 让你可以在手机上继续电脑上的会话，真正实现跨设备无缝工作。而且，`Shift+Tab` 还能快速切换 Normal、Auto-Accept 和 Plan 模式，让你灵活应对不同场景。掌握了这些，我们就能更好地管理规则，并与团队高效协作了。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现在我们来聊聊如何让 Claude Code 真正融入团队协作。通过 CLAUDE.md 文件，我们能把项目的开发规范和 AI 的行为规则统一起来。使用 /init 命令，Claude 会自动检测你的项目框架，生成一个基础的 CLAUDE.md 文件，这能大大简化初始配置。更重要的是，你可以把这个文件提交到 Git 仓库，这样团队成员就能共享一套统一的 AI 规则，确保大家的工作方式保持一致。当 Claude 犯错时，我们不是抱怨，而是把修正的规则添加到 CLAUDE.md 中，这样 AI 就会不断学习和进化，形成一个正向的“规则进化飞轮”。甚至在 GitHub PR 中，你都可以通过 @.claude 触发规则更新，让代码审查建议自动沉淀下来。这不仅提升了效率，也让团队的知识沉淀变得更加自动化。接下来，我们将探讨如何通过安全权限和自动化钩子，进一步提升工作流的智能化和安全性。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从团队协作的规则管理，我们自然过渡到安全权限和自动化钩子，这是确保 AI 融入工作流的关键。通过 /permissions 命令，你可以为 Claude 配置一个安全命令白名单，这样它就能在不频繁打扰你的情况下执行常用操作。我们的原则是在关键检查点进行验证，而不是限制 AI 的每一步操作，这既保证了安全，又提升了流畅性。另一个强大的功能是自动化钩子，比如 PostToolUse 钩子，它能在 Claude 完成任务后自动运行格式化工具，确保代码风格统一。想象一下，每次 AI 生成或修改代码后，npm run format 自动执行，这能省去多少手动调整的时间。如果你想快速设置这些推荐项，官方提供了一个便捷的 setup 脚本，一键就能搞定。这些安全和自动化机制，为我们探索更高级的功能打下了坚实的基础。接下来，我们将深入了解 Claude Code 的高级功能，包括任务系统和定时执行。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我们已经探讨了 Claude Code 的基础和协作功能，现在让我们进入高级功能的世界，看看如何通过任务系统和定时执行，将 AI 的能力发挥到极致。无头模式允许你直接从命令行传递提示词，比如 claude -p "分析认证系统并建议改进"，这非常适合快速、一次性的任务。而 Task 系统则能让你管理一个持久化的任务清单，即使会话结束，任务进度也能跨会话追踪，通过 Ctrl+T 就能随时查看。更令人兴奋的是 /loop 定时任务功能，你可以设置 Claude 每隔一段时间重复执行某个任务，比如每五分钟检查一次部署状态，或者每二十分钟提醒你审查 PR。这就像拥有了一个不知疲倦的智能助手。最后，我们还有一个专门的代码简化器 /simplify 插件，它能在不改变功能的前提下重构和简化代码，特别适合在提交 PR 前或 AI 生成代码后使用，确保代码的整洁和可维护性。这些高级功能，真正将 Claude Code 变成了你工作流中不可或缺的智能伙伴。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755809" y="1782128"/>
            <a:ext cx="4425791" cy="1614011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45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55603" y="3555920"/>
            <a:ext cx="2025000" cy="405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755603" y="893347"/>
            <a:ext cx="3816398" cy="729000"/>
          </a:xfrm>
        </p:spPr>
        <p:txBody>
          <a:bodyPr wrap="square" lIns="0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image" Target="../media/image2.png"/><Relationship Id="rId2" Type="http://schemas.openxmlformats.org/officeDocument/2006/relationships/tags" Target="../tags/tag5.xml"/><Relationship Id="rId12" Type="http://schemas.openxmlformats.org/officeDocument/2006/relationships/theme" Target="../theme/theme2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图片 7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18" t="33583"/>
          <a:stretch>
            <a:fillRect/>
          </a:stretch>
        </p:blipFill>
        <p:spPr>
          <a:xfrm flipH="1">
            <a:off x="0" y="3905726"/>
            <a:ext cx="1796415" cy="1237774"/>
          </a:xfrm>
          <a:prstGeom prst="rect">
            <a:avLst/>
          </a:prstGeom>
        </p:spPr>
      </p:pic>
      <p:sp>
        <p:nvSpPr>
          <p:cNvPr id="24" name="任意多边形: 形状 23"/>
          <p:cNvSpPr/>
          <p:nvPr userDrawn="1">
            <p:custDataLst>
              <p:tags r:id="rId4"/>
            </p:custDataLst>
          </p:nvPr>
        </p:nvSpPr>
        <p:spPr bwMode="auto">
          <a:xfrm flipH="1">
            <a:off x="0" y="4797266"/>
            <a:ext cx="1569720" cy="346234"/>
          </a:xfrm>
          <a:custGeom>
            <a:avLst/>
            <a:gdLst>
              <a:gd name="connsiteX0" fmla="*/ 1774198 w 1774198"/>
              <a:gd name="connsiteY0" fmla="*/ 0 h 1104142"/>
              <a:gd name="connsiteX1" fmla="*/ 1741138 w 1774198"/>
              <a:gd name="connsiteY1" fmla="*/ 889 h 1104142"/>
              <a:gd name="connsiteX2" fmla="*/ 1324905 w 1774198"/>
              <a:gd name="connsiteY2" fmla="*/ 209715 h 1104142"/>
              <a:gd name="connsiteX3" fmla="*/ 1127481 w 1774198"/>
              <a:gd name="connsiteY3" fmla="*/ 583348 h 1104142"/>
              <a:gd name="connsiteX4" fmla="*/ 771309 w 1774198"/>
              <a:gd name="connsiteY4" fmla="*/ 623772 h 1104142"/>
              <a:gd name="connsiteX5" fmla="*/ 513273 w 1774198"/>
              <a:gd name="connsiteY5" fmla="*/ 1021660 h 1104142"/>
              <a:gd name="connsiteX6" fmla="*/ 180769 w 1774198"/>
              <a:gd name="connsiteY6" fmla="*/ 1073057 h 1104142"/>
              <a:gd name="connsiteX7" fmla="*/ 71314 w 1774198"/>
              <a:gd name="connsiteY7" fmla="*/ 1088387 h 1104142"/>
              <a:gd name="connsiteX8" fmla="*/ 0 w 1774198"/>
              <a:gd name="connsiteY8" fmla="*/ 1104142 h 1104142"/>
              <a:gd name="connsiteX9" fmla="*/ 1774198 w 1774198"/>
              <a:gd name="connsiteY9" fmla="*/ 1104142 h 1104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74198" h="1104142">
                <a:moveTo>
                  <a:pt x="1774198" y="0"/>
                </a:moveTo>
                <a:lnTo>
                  <a:pt x="1741138" y="889"/>
                </a:lnTo>
                <a:cubicBezTo>
                  <a:pt x="1580389" y="16753"/>
                  <a:pt x="1415103" y="89886"/>
                  <a:pt x="1324905" y="209715"/>
                </a:cubicBezTo>
                <a:cubicBezTo>
                  <a:pt x="1216957" y="352931"/>
                  <a:pt x="1259675" y="505388"/>
                  <a:pt x="1127481" y="583348"/>
                </a:cubicBezTo>
                <a:cubicBezTo>
                  <a:pt x="998174" y="659576"/>
                  <a:pt x="901771" y="549854"/>
                  <a:pt x="771309" y="623772"/>
                </a:cubicBezTo>
                <a:cubicBezTo>
                  <a:pt x="615448" y="711550"/>
                  <a:pt x="676638" y="909051"/>
                  <a:pt x="513273" y="1021660"/>
                </a:cubicBezTo>
                <a:cubicBezTo>
                  <a:pt x="418601" y="1086916"/>
                  <a:pt x="344134" y="1058042"/>
                  <a:pt x="180769" y="1073057"/>
                </a:cubicBezTo>
                <a:cubicBezTo>
                  <a:pt x="145051" y="1076450"/>
                  <a:pt x="108295" y="1081656"/>
                  <a:pt x="71314" y="1088387"/>
                </a:cubicBezTo>
                <a:lnTo>
                  <a:pt x="0" y="1104142"/>
                </a:lnTo>
                <a:lnTo>
                  <a:pt x="1774198" y="1104142"/>
                </a:lnTo>
                <a:close/>
              </a:path>
            </a:pathLst>
          </a:custGeom>
          <a:solidFill>
            <a:schemeClr val="accent2"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任意多边形: 形状 8"/>
          <p:cNvSpPr/>
          <p:nvPr userDrawn="1">
            <p:custDataLst>
              <p:tags r:id="rId10"/>
            </p:custDataLst>
          </p:nvPr>
        </p:nvSpPr>
        <p:spPr>
          <a:xfrm>
            <a:off x="8272689" y="0"/>
            <a:ext cx="871311" cy="521119"/>
          </a:xfrm>
          <a:custGeom>
            <a:avLst/>
            <a:gdLst>
              <a:gd name="connsiteX0" fmla="*/ 1146857 w 1161748"/>
              <a:gd name="connsiteY0" fmla="*/ 0 h 694825"/>
              <a:gd name="connsiteX1" fmla="*/ 1161748 w 1161748"/>
              <a:gd name="connsiteY1" fmla="*/ 694825 h 694825"/>
              <a:gd name="connsiteX2" fmla="*/ 1153709 w 1161748"/>
              <a:gd name="connsiteY2" fmla="*/ 677245 h 694825"/>
              <a:gd name="connsiteX3" fmla="*/ 1126478 w 1161748"/>
              <a:gd name="connsiteY3" fmla="*/ 647374 h 694825"/>
              <a:gd name="connsiteX4" fmla="*/ 932262 w 1161748"/>
              <a:gd name="connsiteY4" fmla="*/ 607142 h 694825"/>
              <a:gd name="connsiteX5" fmla="*/ 714704 w 1161748"/>
              <a:gd name="connsiteY5" fmla="*/ 518608 h 694825"/>
              <a:gd name="connsiteX6" fmla="*/ 549441 w 1161748"/>
              <a:gd name="connsiteY6" fmla="*/ 251850 h 694825"/>
              <a:gd name="connsiteX7" fmla="*/ 305907 w 1161748"/>
              <a:gd name="connsiteY7" fmla="*/ 261910 h 694825"/>
              <a:gd name="connsiteX8" fmla="*/ 11362 w 1161748"/>
              <a:gd name="connsiteY8" fmla="*/ 36495 h 694825"/>
              <a:gd name="connsiteX9" fmla="*/ 0 w 1161748"/>
              <a:gd name="connsiteY9" fmla="*/ 15388 h 694825"/>
              <a:gd name="connsiteX10" fmla="*/ 1146857 w 1161748"/>
              <a:gd name="connsiteY10" fmla="*/ 0 h 69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1748" h="694825">
                <a:moveTo>
                  <a:pt x="1146857" y="0"/>
                </a:moveTo>
                <a:lnTo>
                  <a:pt x="1161748" y="694825"/>
                </a:lnTo>
                <a:lnTo>
                  <a:pt x="1153709" y="677245"/>
                </a:lnTo>
                <a:cubicBezTo>
                  <a:pt x="1146714" y="666357"/>
                  <a:pt x="1137857" y="656343"/>
                  <a:pt x="1126478" y="647374"/>
                </a:cubicBezTo>
                <a:cubicBezTo>
                  <a:pt x="1084655" y="614391"/>
                  <a:pt x="1069293" y="642581"/>
                  <a:pt x="932262" y="607142"/>
                </a:cubicBezTo>
                <a:cubicBezTo>
                  <a:pt x="835131" y="581970"/>
                  <a:pt x="770724" y="565395"/>
                  <a:pt x="714704" y="518608"/>
                </a:cubicBezTo>
                <a:cubicBezTo>
                  <a:pt x="600705" y="423170"/>
                  <a:pt x="640313" y="310839"/>
                  <a:pt x="549441" y="251850"/>
                </a:cubicBezTo>
                <a:cubicBezTo>
                  <a:pt x="468715" y="199106"/>
                  <a:pt x="411198" y="274795"/>
                  <a:pt x="305907" y="261910"/>
                </a:cubicBezTo>
                <a:cubicBezTo>
                  <a:pt x="200032" y="249031"/>
                  <a:pt x="83870" y="151180"/>
                  <a:pt x="11362" y="36495"/>
                </a:cubicBezTo>
                <a:lnTo>
                  <a:pt x="0" y="15388"/>
                </a:lnTo>
                <a:lnTo>
                  <a:pt x="1146857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3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u="none" kern="1200" spc="0">
          <a:solidFill>
            <a:schemeClr val="accent1">
              <a:lumMod val="50000"/>
            </a:schemeClr>
          </a:solidFill>
          <a:effectLst/>
          <a:uFill>
            <a:solidFill>
              <a:srgbClr val="323256"/>
            </a:solidFill>
          </a:uFill>
          <a:latin typeface="+mj-lt"/>
          <a:ea typeface="+mj-ea"/>
          <a:cs typeface="+mj-cs"/>
        </a:defRPr>
      </a:lvl1pPr>
    </p:titleStyle>
    <p:bodyStyle>
      <a:lvl1pPr marL="171450" indent="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9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0" algn="l" defTabSz="685800" rtl="0" eaLnBrk="1" latinLnBrk="0" hangingPunct="1">
        <a:lnSpc>
          <a:spcPct val="130000"/>
        </a:lnSpc>
        <a:spcBef>
          <a:spcPts val="375"/>
        </a:spcBef>
        <a:buFont typeface="Arial" panose="020B0604020202090204" pitchFamily="34" charset="0"/>
        <a:buChar char="•"/>
        <a:defRPr sz="15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0" algn="l" defTabSz="685800" rtl="0" eaLnBrk="1" latinLnBrk="0" hangingPunct="1">
        <a:lnSpc>
          <a:spcPct val="130000"/>
        </a:lnSpc>
        <a:spcBef>
          <a:spcPts val="375"/>
        </a:spcBef>
        <a:buFont typeface="Arial" panose="020B0604020202090204" pitchFamily="34" charset="0"/>
        <a:buChar char="•"/>
        <a:defRPr sz="135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0" algn="l" defTabSz="685800" rtl="0" eaLnBrk="1" latinLnBrk="0" hangingPunct="1">
        <a:lnSpc>
          <a:spcPct val="130000"/>
        </a:lnSpc>
        <a:spcBef>
          <a:spcPts val="375"/>
        </a:spcBef>
        <a:buFont typeface="Arial" panose="020B0604020202090204" pitchFamily="34" charset="0"/>
        <a:buChar char="•"/>
        <a:defRPr sz="135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0" algn="l" defTabSz="685800" rtl="0" eaLnBrk="1" latinLnBrk="0" hangingPunct="1">
        <a:lnSpc>
          <a:spcPct val="130000"/>
        </a:lnSpc>
        <a:spcBef>
          <a:spcPts val="375"/>
        </a:spcBef>
        <a:buFont typeface="Arial" panose="020B0604020202090204" pitchFamily="34" charset="0"/>
        <a:buChar char="•"/>
        <a:defRPr sz="135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9"/>
          <p:cNvSpPr/>
          <p:nvPr/>
        </p:nvSpPr>
        <p:spPr>
          <a:xfrm>
            <a:off x="8443913" y="4932759"/>
            <a:ext cx="692944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/ 12</a:t>
            </a:r>
            <a:endParaRPr lang="en-US" sz="835" dirty="0">
              <a:solidFill>
                <a:schemeClr val="tx1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00063" y="48220"/>
            <a:ext cx="1092994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--tips</a:t>
            </a:r>
            <a:endParaRPr lang="en-US" sz="725" dirty="0">
              <a:solidFill>
                <a:schemeClr val="tx1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Claude Code </a:t>
            </a:r>
            <a:r>
              <a:rPr lang="zh-CN" altLang="en-US"/>
              <a:t>高效使用技巧</a:t>
            </a:r>
            <a:endParaRPr lang="zh-CN" altLang="en-US"/>
          </a:p>
        </p:txBody>
      </p:sp>
      <p:sp>
        <p:nvSpPr>
          <p:cNvPr id="4" name="文本占位符 1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Chao</a:t>
            </a:r>
            <a:endParaRPr lang="en-US" altLang="zh-CN"/>
          </a:p>
        </p:txBody>
      </p:sp>
      <p:sp>
        <p:nvSpPr>
          <p:cNvPr id="7" name="副标题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30</a:t>
            </a:r>
            <a:r>
              <a:rPr lang="zh-CN" altLang="en-US"/>
              <a:t>个核心技巧精选</a:t>
            </a:r>
            <a:r>
              <a:rPr lang="en-US" altLang="zh-CN"/>
              <a:t> 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28638" y="41077"/>
            <a:ext cx="1214438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--basics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342900" y="832665"/>
            <a:ext cx="4121944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界面自定义与基础命令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42900" y="1307725"/>
            <a:ext cx="4121944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1：自定义状态栏</a:t>
            </a:r>
            <a:endParaRPr lang="en-US" sz="127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707775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2925" y="1689915"/>
            <a:ext cx="1798439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实时显示模型名称、Git 分支</a:t>
            </a:r>
            <a:endParaRPr lang="en-US" sz="94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970643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2925" y="1952783"/>
            <a:ext cx="190023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监控 Token 使用量与当前目录</a:t>
            </a:r>
            <a:endParaRPr lang="en-US" sz="94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2233510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2925" y="2215651"/>
            <a:ext cx="1541264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支持 10 种颜色主题切换</a:t>
            </a:r>
            <a:endParaRPr lang="en-US" sz="940" dirty="0"/>
          </a:p>
        </p:txBody>
      </p:sp>
      <p:sp>
        <p:nvSpPr>
          <p:cNvPr id="14" name="Text 7"/>
          <p:cNvSpPr/>
          <p:nvPr/>
        </p:nvSpPr>
        <p:spPr>
          <a:xfrm>
            <a:off x="342900" y="2517809"/>
            <a:ext cx="4121944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2：常用斜杠命令</a:t>
            </a:r>
            <a:endParaRPr lang="en-US" sz="127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919645"/>
            <a:ext cx="144661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5794" y="2896428"/>
            <a:ext cx="46292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/usage</a:t>
            </a:r>
            <a:endParaRPr lang="en-US" sz="940" dirty="0"/>
          </a:p>
        </p:txBody>
      </p:sp>
      <p:sp>
        <p:nvSpPr>
          <p:cNvPr id="17" name="Text 9"/>
          <p:cNvSpPr/>
          <p:nvPr/>
        </p:nvSpPr>
        <p:spPr>
          <a:xfrm>
            <a:off x="1098714" y="2901786"/>
            <a:ext cx="1001911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查看速率限制</a:t>
            </a:r>
            <a:endParaRPr lang="en-US" sz="94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3184299"/>
            <a:ext cx="144661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35794" y="3161081"/>
            <a:ext cx="540079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/chrome</a:t>
            </a:r>
            <a:endParaRPr lang="en-US" sz="940" dirty="0"/>
          </a:p>
        </p:txBody>
      </p:sp>
      <p:sp>
        <p:nvSpPr>
          <p:cNvPr id="20" name="Text 11"/>
          <p:cNvSpPr/>
          <p:nvPr/>
        </p:nvSpPr>
        <p:spPr>
          <a:xfrm>
            <a:off x="1175872" y="3166439"/>
            <a:ext cx="113049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启用浏览器集成</a:t>
            </a:r>
            <a:endParaRPr lang="en-US" sz="94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3448952"/>
            <a:ext cx="144661" cy="12858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35794" y="3425735"/>
            <a:ext cx="308632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/mcp</a:t>
            </a:r>
            <a:endParaRPr lang="en-US" sz="940" dirty="0"/>
          </a:p>
        </p:txBody>
      </p:sp>
      <p:sp>
        <p:nvSpPr>
          <p:cNvPr id="23" name="Text 13"/>
          <p:cNvSpPr/>
          <p:nvPr/>
        </p:nvSpPr>
        <p:spPr>
          <a:xfrm>
            <a:off x="944426" y="3431093"/>
            <a:ext cx="125730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管理 MCP 服务器</a:t>
            </a:r>
            <a:endParaRPr lang="en-US" sz="940" dirty="0"/>
          </a:p>
        </p:txBody>
      </p:sp>
      <p:sp>
        <p:nvSpPr>
          <p:cNvPr id="24" name="Text 14"/>
          <p:cNvSpPr/>
          <p:nvPr/>
        </p:nvSpPr>
        <p:spPr>
          <a:xfrm>
            <a:off x="4679156" y="757238"/>
            <a:ext cx="4121944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状态栏示例</a:t>
            </a:r>
            <a:endParaRPr lang="en-US" sz="1270" dirty="0"/>
          </a:p>
        </p:txBody>
      </p:sp>
      <p:sp>
        <p:nvSpPr>
          <p:cNvPr id="25" name="Shape 15"/>
          <p:cNvSpPr/>
          <p:nvPr/>
        </p:nvSpPr>
        <p:spPr>
          <a:xfrm>
            <a:off x="4679156" y="1078706"/>
            <a:ext cx="4121944" cy="571500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4764881" y="1164431"/>
            <a:ext cx="3950494" cy="250031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7" name="Shape 17"/>
          <p:cNvSpPr/>
          <p:nvPr/>
        </p:nvSpPr>
        <p:spPr>
          <a:xfrm>
            <a:off x="4764881" y="1164431"/>
            <a:ext cx="28575" cy="250031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28" name="Text 18"/>
          <p:cNvSpPr/>
          <p:nvPr/>
        </p:nvSpPr>
        <p:spPr>
          <a:xfrm>
            <a:off x="4822031" y="1221581"/>
            <a:ext cx="201096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Opus 4.5 | 📁claude-tips | 🔀main</a:t>
            </a:r>
            <a:endParaRPr lang="en-US" sz="725" dirty="0"/>
          </a:p>
        </p:txBody>
      </p:sp>
      <p:sp>
        <p:nvSpPr>
          <p:cNvPr id="29" name="Text 19"/>
          <p:cNvSpPr/>
          <p:nvPr/>
        </p:nvSpPr>
        <p:spPr>
          <a:xfrm>
            <a:off x="7329488" y="1221581"/>
            <a:ext cx="1328738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██░░░░░░░░ 18% of 200k</a:t>
            </a:r>
            <a:endParaRPr lang="en-US" sz="725" dirty="0"/>
          </a:p>
        </p:txBody>
      </p:sp>
      <p:sp>
        <p:nvSpPr>
          <p:cNvPr id="30" name="Text 20"/>
          <p:cNvSpPr/>
          <p:nvPr/>
        </p:nvSpPr>
        <p:spPr>
          <a:xfrm>
            <a:off x="4679156" y="1864519"/>
            <a:ext cx="4121944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命令速查</a:t>
            </a:r>
            <a:endParaRPr lang="en-US" sz="1270" dirty="0"/>
          </a:p>
        </p:txBody>
      </p:sp>
      <p:sp>
        <p:nvSpPr>
          <p:cNvPr id="31" name="Shape 21"/>
          <p:cNvSpPr/>
          <p:nvPr/>
        </p:nvSpPr>
        <p:spPr>
          <a:xfrm>
            <a:off x="4679156" y="2185988"/>
            <a:ext cx="4121944" cy="975122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764881" y="2271713"/>
            <a:ext cx="3950494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/permissions</a:t>
            </a:r>
            <a:endParaRPr lang="en-US" sz="835" dirty="0"/>
          </a:p>
        </p:txBody>
      </p:sp>
      <p:sp>
        <p:nvSpPr>
          <p:cNvPr id="33" name="Text 23"/>
          <p:cNvSpPr/>
          <p:nvPr/>
        </p:nvSpPr>
        <p:spPr>
          <a:xfrm>
            <a:off x="4764881" y="2457450"/>
            <a:ext cx="3950494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预授权安全命令，减少确认</a:t>
            </a:r>
            <a:endParaRPr lang="en-US" sz="835" dirty="0"/>
          </a:p>
        </p:txBody>
      </p:sp>
      <p:sp>
        <p:nvSpPr>
          <p:cNvPr id="34" name="Text 24"/>
          <p:cNvSpPr/>
          <p:nvPr/>
        </p:nvSpPr>
        <p:spPr>
          <a:xfrm>
            <a:off x="4764881" y="2709267"/>
            <a:ext cx="3950494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/clear</a:t>
            </a:r>
            <a:endParaRPr lang="en-US" sz="835" dirty="0"/>
          </a:p>
        </p:txBody>
      </p:sp>
      <p:sp>
        <p:nvSpPr>
          <p:cNvPr id="35" name="Text 25"/>
          <p:cNvSpPr/>
          <p:nvPr/>
        </p:nvSpPr>
        <p:spPr>
          <a:xfrm>
            <a:off x="4764881" y="2895005"/>
            <a:ext cx="3950494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清除对话历史，重置上下文</a:t>
            </a:r>
            <a:endParaRPr lang="en-US" sz="835" dirty="0"/>
          </a:p>
        </p:txBody>
      </p:sp>
      <p:sp>
        <p:nvSpPr>
          <p:cNvPr id="36" name="Shape 26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37" name="Text 27"/>
          <p:cNvSpPr/>
          <p:nvPr/>
        </p:nvSpPr>
        <p:spPr>
          <a:xfrm>
            <a:off x="0" y="4931866"/>
            <a:ext cx="685800" cy="166092"/>
          </a:xfrm>
          <a:prstGeom prst="rect">
            <a:avLst/>
          </a:prstGeom>
          <a:noFill/>
        </p:spPr>
        <p:txBody>
          <a:bodyPr wrap="none" lIns="136017" tIns="0" rIns="136017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基础配置</a:t>
            </a:r>
            <a:endParaRPr lang="en-US" sz="835" dirty="0"/>
          </a:p>
        </p:txBody>
      </p:sp>
      <p:sp>
        <p:nvSpPr>
          <p:cNvPr id="38" name="Text 28"/>
          <p:cNvSpPr/>
          <p:nvPr/>
        </p:nvSpPr>
        <p:spPr>
          <a:xfrm>
            <a:off x="8508206" y="4939903"/>
            <a:ext cx="635794" cy="150019"/>
          </a:xfrm>
          <a:prstGeom prst="rect">
            <a:avLst/>
          </a:prstGeom>
          <a:noFill/>
        </p:spPr>
        <p:txBody>
          <a:bodyPr wrap="none" lIns="136017" tIns="0" rIns="136017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/ 12</a:t>
            </a:r>
            <a:endParaRPr lang="en-US" sz="83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518047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--interaction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696934"/>
            <a:ext cx="8272463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交互模式与问题分解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171994"/>
            <a:ext cx="261112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3：使用 Voice 模式 (</a:t>
            </a:r>
            <a:r>
              <a:rPr lang="zh-CN" alt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高级会员</a:t>
            </a: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70" dirty="0"/>
          </a:p>
        </p:txBody>
      </p:sp>
      <p:sp>
        <p:nvSpPr>
          <p:cNvPr id="8" name="Shape 4"/>
          <p:cNvSpPr/>
          <p:nvPr/>
        </p:nvSpPr>
        <p:spPr>
          <a:xfrm>
            <a:off x="435769" y="1529181"/>
            <a:ext cx="4064794" cy="886523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  <p:txBody>
          <a:bodyPr/>
          <a:p>
            <a:endParaRPr lang="zh-CN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802430"/>
            <a:ext cx="96441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9366" y="1784570"/>
            <a:ext cx="1332309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Hands-free (默认)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542925" y="2054247"/>
            <a:ext cx="3843338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持续监听环境，适合安静的独立办公空间。无需手动操作，对话更自然。</a:t>
            </a:r>
            <a:endParaRPr lang="en-US" sz="725" dirty="0"/>
          </a:p>
        </p:txBody>
      </p:sp>
      <p:sp>
        <p:nvSpPr>
          <p:cNvPr id="12" name="Shape 7"/>
          <p:cNvSpPr/>
          <p:nvPr/>
        </p:nvSpPr>
        <p:spPr>
          <a:xfrm>
            <a:off x="4636294" y="1529181"/>
            <a:ext cx="4071938" cy="872235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94" y="1782784"/>
            <a:ext cx="112514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63108" y="1764925"/>
            <a:ext cx="998339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Push-to-talk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4750594" y="2034601"/>
            <a:ext cx="3850481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按住说话，松开发送。适合嘈杂环境，精准控制输入时机，减少噪音干扰。</a:t>
            </a:r>
            <a:endParaRPr lang="en-US" sz="725" dirty="0"/>
          </a:p>
        </p:txBody>
      </p:sp>
      <p:sp>
        <p:nvSpPr>
          <p:cNvPr id="16" name="Text 10"/>
          <p:cNvSpPr/>
          <p:nvPr/>
        </p:nvSpPr>
        <p:spPr>
          <a:xfrm>
            <a:off x="435769" y="2615729"/>
            <a:ext cx="8272463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4：分解复杂问题 (核心思维)</a:t>
            </a:r>
            <a:endParaRPr lang="en-US" sz="1270" dirty="0"/>
          </a:p>
        </p:txBody>
      </p:sp>
      <p:sp>
        <p:nvSpPr>
          <p:cNvPr id="17" name="Text 11"/>
          <p:cNvSpPr/>
          <p:nvPr/>
        </p:nvSpPr>
        <p:spPr>
          <a:xfrm>
            <a:off x="435769" y="2980060"/>
            <a:ext cx="8272463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当 Claude 无法一次性解决困难问题时，请引导它进行任务拆解：</a:t>
            </a:r>
            <a:endParaRPr lang="en-US" sz="835" dirty="0"/>
          </a:p>
        </p:txBody>
      </p:sp>
      <p:sp>
        <p:nvSpPr>
          <p:cNvPr id="18" name="Shape 12"/>
          <p:cNvSpPr/>
          <p:nvPr/>
        </p:nvSpPr>
        <p:spPr>
          <a:xfrm>
            <a:off x="435769" y="3289027"/>
            <a:ext cx="8272463" cy="623292"/>
          </a:xfrm>
          <a:prstGeom prst="rect">
            <a:avLst/>
          </a:prstGeom>
          <a:solidFill>
            <a:srgbClr val="4EC9B0">
              <a:alpha val="5000"/>
            </a:srgbClr>
          </a:solidFill>
          <a:ln w="9144">
            <a:solidFill>
              <a:srgbClr val="4EC9B0"/>
            </a:solidFill>
            <a:prstDash val="dash"/>
          </a:ln>
        </p:spPr>
      </p:sp>
      <p:sp>
        <p:nvSpPr>
          <p:cNvPr id="19" name="Shape 13"/>
          <p:cNvSpPr/>
          <p:nvPr/>
        </p:nvSpPr>
        <p:spPr>
          <a:xfrm>
            <a:off x="578644" y="3431902"/>
            <a:ext cx="800100" cy="323255"/>
          </a:xfrm>
          <a:prstGeom prst="rect">
            <a:avLst/>
          </a:prstGeom>
          <a:solidFill>
            <a:srgbClr val="1E1E1E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78644" y="3431902"/>
            <a:ext cx="800100" cy="323255"/>
          </a:xfrm>
          <a:prstGeom prst="rect">
            <a:avLst/>
          </a:prstGeom>
          <a:noFill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复杂大任务</a:t>
            </a:r>
            <a:endParaRPr lang="en-US" sz="835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628" y="3505126"/>
            <a:ext cx="171450" cy="17145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2912250" y="3431902"/>
            <a:ext cx="935831" cy="323255"/>
          </a:xfrm>
          <a:prstGeom prst="rect">
            <a:avLst/>
          </a:prstGeom>
          <a:solidFill>
            <a:srgbClr val="1E1E1E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912250" y="3431902"/>
            <a:ext cx="935831" cy="323255"/>
          </a:xfrm>
          <a:prstGeom prst="rect">
            <a:avLst/>
          </a:prstGeom>
          <a:noFill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拆解子问题 A</a:t>
            </a:r>
            <a:endParaRPr lang="en-US" sz="835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082" y="3505126"/>
            <a:ext cx="171450" cy="17145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391076" y="3431902"/>
            <a:ext cx="935831" cy="323255"/>
          </a:xfrm>
          <a:prstGeom prst="rect">
            <a:avLst/>
          </a:prstGeom>
          <a:solidFill>
            <a:srgbClr val="1E1E1E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391076" y="3431902"/>
            <a:ext cx="935831" cy="323255"/>
          </a:xfrm>
          <a:prstGeom prst="rect">
            <a:avLst/>
          </a:prstGeom>
          <a:noFill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拆解子问题 B</a:t>
            </a:r>
            <a:endParaRPr lang="en-US" sz="835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5163" y="3505126"/>
            <a:ext cx="171450" cy="17145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7879556" y="3431902"/>
            <a:ext cx="685800" cy="323255"/>
          </a:xfrm>
          <a:prstGeom prst="rect">
            <a:avLst/>
          </a:prstGeom>
          <a:solidFill>
            <a:srgbClr val="1E1E1E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7879556" y="3431902"/>
            <a:ext cx="685800" cy="323255"/>
          </a:xfrm>
          <a:prstGeom prst="rect">
            <a:avLst/>
          </a:prstGeom>
          <a:noFill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逐一解决</a:t>
            </a:r>
            <a:endParaRPr lang="en-US" sz="835" dirty="0"/>
          </a:p>
        </p:txBody>
      </p:sp>
      <p:sp>
        <p:nvSpPr>
          <p:cNvPr id="30" name="Text 21"/>
          <p:cNvSpPr/>
          <p:nvPr/>
        </p:nvSpPr>
        <p:spPr>
          <a:xfrm>
            <a:off x="435769" y="4026619"/>
            <a:ext cx="8272463" cy="146447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最佳实践：</a:t>
            </a:r>
            <a:r>
              <a:rPr lang="en-US" sz="72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持续分解直到所有子问题都变得简单、可验证且可直接执行。</a:t>
            </a:r>
            <a:endParaRPr lang="en-US" sz="725" dirty="0"/>
          </a:p>
        </p:txBody>
      </p:sp>
      <p:sp>
        <p:nvSpPr>
          <p:cNvPr id="31" name="Shape 22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32" name="Text 23"/>
          <p:cNvSpPr/>
          <p:nvPr/>
        </p:nvSpPr>
        <p:spPr>
          <a:xfrm>
            <a:off x="7144" y="4910435"/>
            <a:ext cx="8572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交互与思维</a:t>
            </a:r>
            <a:endParaRPr lang="en-US" sz="835" dirty="0"/>
          </a:p>
        </p:txBody>
      </p:sp>
      <p:sp>
        <p:nvSpPr>
          <p:cNvPr id="33" name="Text 24"/>
          <p:cNvSpPr/>
          <p:nvPr/>
        </p:nvSpPr>
        <p:spPr>
          <a:xfrm>
            <a:off x="8443913" y="4918472"/>
            <a:ext cx="692944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/ 12</a:t>
            </a:r>
            <a:endParaRPr lang="en-US" sz="83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70021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--output-context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839809"/>
            <a:ext cx="3993356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高效输出与管理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386306"/>
            <a:ext cx="3993356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5：多样化输出</a:t>
            </a:r>
            <a:endParaRPr lang="en-US" sz="1270" dirty="0"/>
          </a:p>
        </p:txBody>
      </p:sp>
      <p:sp>
        <p:nvSpPr>
          <p:cNvPr id="8" name="Shape 4"/>
          <p:cNvSpPr/>
          <p:nvPr/>
        </p:nvSpPr>
        <p:spPr>
          <a:xfrm>
            <a:off x="435769" y="1743494"/>
            <a:ext cx="3993356" cy="1500188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4394" y="1957806"/>
            <a:ext cx="471515" cy="20359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Text 6"/>
          <p:cNvSpPr/>
          <p:nvPr/>
        </p:nvSpPr>
        <p:spPr>
          <a:xfrm>
            <a:off x="864394" y="1957806"/>
            <a:ext cx="471515" cy="203597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4EC9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/copy</a:t>
            </a:r>
            <a:endParaRPr lang="en-US" sz="940" dirty="0"/>
          </a:p>
        </p:txBody>
      </p:sp>
      <p:sp>
        <p:nvSpPr>
          <p:cNvPr id="11" name="Text 7"/>
          <p:cNvSpPr/>
          <p:nvPr/>
        </p:nvSpPr>
        <p:spPr>
          <a:xfrm>
            <a:off x="1335909" y="1977451"/>
            <a:ext cx="1259086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复制最后一次响应</a:t>
            </a:r>
            <a:endParaRPr lang="en-US" sz="940" dirty="0"/>
          </a:p>
        </p:txBody>
      </p:sp>
      <p:sp>
        <p:nvSpPr>
          <p:cNvPr id="12" name="Shape 8"/>
          <p:cNvSpPr/>
          <p:nvPr/>
        </p:nvSpPr>
        <p:spPr>
          <a:xfrm>
            <a:off x="864394" y="2232840"/>
            <a:ext cx="548646" cy="20359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Text 9"/>
          <p:cNvSpPr/>
          <p:nvPr/>
        </p:nvSpPr>
        <p:spPr>
          <a:xfrm>
            <a:off x="864394" y="2232840"/>
            <a:ext cx="548646" cy="203597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4EC9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pbcopy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1413039" y="2252486"/>
            <a:ext cx="1516261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直接发送到系统剪贴板</a:t>
            </a:r>
            <a:endParaRPr lang="en-US" sz="94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94" y="2545380"/>
            <a:ext cx="96441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834" y="2527520"/>
            <a:ext cx="161984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写入文件并在编辑器中打开</a:t>
            </a:r>
            <a:endParaRPr lang="en-US" sz="94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4" y="2820414"/>
            <a:ext cx="128588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2981" y="2802555"/>
            <a:ext cx="1669852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在浏览器中打开生成的 URL</a:t>
            </a:r>
            <a:endParaRPr lang="en-US" sz="940" dirty="0"/>
          </a:p>
        </p:txBody>
      </p:sp>
      <p:sp>
        <p:nvSpPr>
          <p:cNvPr id="19" name="Text 13"/>
          <p:cNvSpPr/>
          <p:nvPr/>
        </p:nvSpPr>
        <p:spPr>
          <a:xfrm>
            <a:off x="4714875" y="792956"/>
            <a:ext cx="266827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6 &amp; 7：上下文管理 </a:t>
            </a:r>
            <a:r>
              <a:rPr lang="zh-CN" alt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和</a:t>
            </a:r>
            <a:r>
              <a:rPr lang="en-US" altLang="zh-CN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zh-CN" alt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计划</a:t>
            </a:r>
            <a:r>
              <a:rPr lang="zh-CN" alt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模式</a:t>
            </a:r>
            <a:endParaRPr lang="zh-CN" altLang="en-US" sz="1270" dirty="0">
              <a:solidFill>
                <a:srgbClr val="007ACC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714875" y="1150144"/>
            <a:ext cx="3993356" cy="1285875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857750" y="1421606"/>
            <a:ext cx="3707606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/compact</a:t>
            </a: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：总结对话，释放 Token 空间，适合长会话。</a:t>
            </a:r>
            <a:endParaRPr lang="en-US" sz="885" dirty="0"/>
          </a:p>
        </p:txBody>
      </p:sp>
      <p:sp>
        <p:nvSpPr>
          <p:cNvPr id="22" name="Text 16"/>
          <p:cNvSpPr/>
          <p:nvPr/>
        </p:nvSpPr>
        <p:spPr>
          <a:xfrm>
            <a:off x="4857750" y="1773436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计划模式</a:t>
            </a:r>
            <a:endParaRPr lang="en-US" sz="885" dirty="0"/>
          </a:p>
        </p:txBody>
      </p:sp>
      <p:sp>
        <p:nvSpPr>
          <p:cNvPr id="23" name="Text 17"/>
          <p:cNvSpPr/>
          <p:nvPr/>
        </p:nvSpPr>
        <p:spPr>
          <a:xfrm>
            <a:off x="5372100" y="1773436"/>
            <a:ext cx="59114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：按两次</a:t>
            </a:r>
            <a:endParaRPr lang="en-US" sz="940" dirty="0"/>
          </a:p>
        </p:txBody>
      </p:sp>
      <p:sp>
        <p:nvSpPr>
          <p:cNvPr id="24" name="Shape 18"/>
          <p:cNvSpPr/>
          <p:nvPr/>
        </p:nvSpPr>
        <p:spPr>
          <a:xfrm>
            <a:off x="5963245" y="1753791"/>
            <a:ext cx="780120" cy="20359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5" name="Text 19"/>
          <p:cNvSpPr/>
          <p:nvPr/>
        </p:nvSpPr>
        <p:spPr>
          <a:xfrm>
            <a:off x="5963245" y="1753791"/>
            <a:ext cx="780120" cy="203597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Shift+Tab</a:t>
            </a:r>
            <a:endParaRPr lang="en-US" sz="940" dirty="0"/>
          </a:p>
        </p:txBody>
      </p:sp>
      <p:sp>
        <p:nvSpPr>
          <p:cNvPr id="26" name="Text 20"/>
          <p:cNvSpPr/>
          <p:nvPr/>
        </p:nvSpPr>
        <p:spPr>
          <a:xfrm>
            <a:off x="6743365" y="1773436"/>
            <a:ext cx="46255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进入。</a:t>
            </a:r>
            <a:endParaRPr lang="en-US" sz="940" dirty="0"/>
          </a:p>
        </p:txBody>
      </p:sp>
      <p:sp>
        <p:nvSpPr>
          <p:cNvPr id="27" name="Text 21"/>
          <p:cNvSpPr/>
          <p:nvPr/>
        </p:nvSpPr>
        <p:spPr>
          <a:xfrm>
            <a:off x="4857750" y="2028825"/>
            <a:ext cx="370760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先在计划模式讨论方案，确认无误后再切换到自动模式执行。</a:t>
            </a:r>
            <a:endParaRPr lang="en-US" sz="725" dirty="0"/>
          </a:p>
        </p:txBody>
      </p:sp>
      <p:sp>
        <p:nvSpPr>
          <p:cNvPr id="28" name="Text 22"/>
          <p:cNvSpPr/>
          <p:nvPr/>
        </p:nvSpPr>
        <p:spPr>
          <a:xfrm>
            <a:off x="4886325" y="2650331"/>
            <a:ext cx="3821906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最佳实践：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在重新开始新任务前，先创建一个交接文档总结当前进度。</a:t>
            </a:r>
            <a:endParaRPr lang="en-US" sz="835" dirty="0"/>
          </a:p>
        </p:txBody>
      </p:sp>
      <p:sp>
        <p:nvSpPr>
          <p:cNvPr id="29" name="Shape 23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30" name="Text 24"/>
          <p:cNvSpPr/>
          <p:nvPr/>
        </p:nvSpPr>
        <p:spPr>
          <a:xfrm>
            <a:off x="7144" y="4910435"/>
            <a:ext cx="9715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输出与上下文</a:t>
            </a:r>
            <a:endParaRPr lang="en-US" sz="835" dirty="0"/>
          </a:p>
        </p:txBody>
      </p:sp>
      <p:sp>
        <p:nvSpPr>
          <p:cNvPr id="31" name="Text 25"/>
          <p:cNvSpPr/>
          <p:nvPr/>
        </p:nvSpPr>
        <p:spPr>
          <a:xfrm>
            <a:off x="8443913" y="4918472"/>
            <a:ext cx="692944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/ 12</a:t>
            </a:r>
            <a:endParaRPr lang="en-US" sz="8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275159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--web-git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696934"/>
            <a:ext cx="8272463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网页访问与并行开发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243431"/>
            <a:ext cx="37147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8</a:t>
            </a:r>
            <a:endParaRPr lang="en-US" sz="985" dirty="0"/>
          </a:p>
        </p:txBody>
      </p:sp>
      <p:sp>
        <p:nvSpPr>
          <p:cNvPr id="8" name="Text 4"/>
          <p:cNvSpPr/>
          <p:nvPr/>
        </p:nvSpPr>
        <p:spPr>
          <a:xfrm>
            <a:off x="1293019" y="1243431"/>
            <a:ext cx="1227455" cy="1917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复制页面内容 </a:t>
            </a:r>
            <a:r>
              <a:rPr lang="zh-CN" altLang="en-US" sz="11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截图</a:t>
            </a:r>
            <a:endParaRPr lang="zh-CN" altLang="en-US" sz="1160" dirty="0">
              <a:solidFill>
                <a:srgbClr val="FFFFFF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293019" y="1543469"/>
            <a:ext cx="5892165" cy="538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当 Claude 无法直接访问受限 URL 时，最简单高效的方法是：全选页面内容 (</a:t>
            </a: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Cmd+A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</a:t>
            </a: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Ctrl+A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)，复制并直接粘贴到对话框中。</a:t>
            </a:r>
            <a:endParaRPr lang="en-US" sz="835" dirty="0">
              <a:solidFill>
                <a:srgbClr val="D4D4D4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 </a:t>
            </a: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Ctrl+V 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粘贴</a:t>
            </a:r>
            <a:r>
              <a:rPr lang="zh-CN" alt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图片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。</a:t>
            </a:r>
            <a:endParaRPr lang="en-US" sz="835" dirty="0">
              <a:solidFill>
                <a:srgbClr val="D4D4D4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835" dirty="0"/>
          </a:p>
        </p:txBody>
      </p:sp>
      <p:sp>
        <p:nvSpPr>
          <p:cNvPr id="10" name="Text 6"/>
          <p:cNvSpPr/>
          <p:nvPr/>
        </p:nvSpPr>
        <p:spPr>
          <a:xfrm>
            <a:off x="435769" y="2043531"/>
            <a:ext cx="37147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9</a:t>
            </a:r>
            <a:endParaRPr lang="en-US" sz="985" dirty="0"/>
          </a:p>
        </p:txBody>
      </p:sp>
      <p:sp>
        <p:nvSpPr>
          <p:cNvPr id="11" name="Text 7"/>
          <p:cNvSpPr/>
          <p:nvPr/>
        </p:nvSpPr>
        <p:spPr>
          <a:xfrm>
            <a:off x="1293019" y="2043531"/>
            <a:ext cx="741521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使用 Gemini CLI 访问受限网站</a:t>
            </a:r>
            <a:endParaRPr lang="en-US" sz="1160" dirty="0"/>
          </a:p>
        </p:txBody>
      </p:sp>
      <p:sp>
        <p:nvSpPr>
          <p:cNvPr id="12" name="Text 8"/>
          <p:cNvSpPr/>
          <p:nvPr/>
        </p:nvSpPr>
        <p:spPr>
          <a:xfrm>
            <a:off x="1293019" y="2343569"/>
            <a:ext cx="7415213" cy="358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如果内置的 WebFetch 无法绕过某些网站的限制，可以配置 Gemini CLI 作为后备方案。通过自定义技能调用外部工具，确保信息获取的连续性。</a:t>
            </a:r>
            <a:endParaRPr lang="en-US" sz="835" dirty="0">
              <a:solidFill>
                <a:srgbClr val="D4D4D4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参考</a:t>
            </a:r>
            <a:r>
              <a:rPr lang="en-US" altLang="zh-CN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reddit-fetch skill</a:t>
            </a:r>
            <a:r>
              <a:rPr lang="zh-CN" alt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的</a:t>
            </a:r>
            <a:r>
              <a:rPr lang="zh-CN" alt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实现。</a:t>
            </a:r>
            <a:endParaRPr lang="zh-CN" altLang="en-US" sz="835" dirty="0">
              <a:solidFill>
                <a:srgbClr val="D4D4D4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  <a:sym typeface="+mn-ea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35769" y="3015081"/>
            <a:ext cx="42354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10</a:t>
            </a:r>
            <a:endParaRPr lang="en-US" sz="985" dirty="0"/>
          </a:p>
        </p:txBody>
      </p:sp>
      <p:sp>
        <p:nvSpPr>
          <p:cNvPr id="14" name="Text 10"/>
          <p:cNvSpPr/>
          <p:nvPr/>
        </p:nvSpPr>
        <p:spPr>
          <a:xfrm>
            <a:off x="1293019" y="3015081"/>
            <a:ext cx="741521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使用 Git Worktree 并行开发</a:t>
            </a:r>
            <a:endParaRPr lang="en-US" sz="1160" dirty="0"/>
          </a:p>
        </p:txBody>
      </p:sp>
      <p:sp>
        <p:nvSpPr>
          <p:cNvPr id="15" name="Text 11"/>
          <p:cNvSpPr/>
          <p:nvPr/>
        </p:nvSpPr>
        <p:spPr>
          <a:xfrm>
            <a:off x="1293019" y="3315119"/>
            <a:ext cx="7415213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需要同时处理多个任务？让 Claude 创建 </a:t>
            </a: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worktree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。在不同目录中并行处理不同分支，无需频繁切换上下文，大幅提升多任务效率。</a:t>
            </a:r>
            <a:endParaRPr lang="en-US" sz="835" dirty="0"/>
          </a:p>
        </p:txBody>
      </p:sp>
      <p:sp>
        <p:nvSpPr>
          <p:cNvPr id="16" name="Shape 12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17" name="Text 13"/>
          <p:cNvSpPr/>
          <p:nvPr/>
        </p:nvSpPr>
        <p:spPr>
          <a:xfrm>
            <a:off x="7144" y="4910435"/>
            <a:ext cx="10858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网络与版本控制</a:t>
            </a:r>
            <a:endParaRPr lang="en-US" sz="835" dirty="0"/>
          </a:p>
        </p:txBody>
      </p:sp>
      <p:sp>
        <p:nvSpPr>
          <p:cNvPr id="18" name="Text 14"/>
          <p:cNvSpPr/>
          <p:nvPr/>
        </p:nvSpPr>
        <p:spPr>
          <a:xfrm>
            <a:off x="8443913" y="4918472"/>
            <a:ext cx="692944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/ 12</a:t>
            </a:r>
            <a:endParaRPr lang="en-US" sz="8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335881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--recovery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839809"/>
            <a:ext cx="3993356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长时间任务与恢复策略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386306"/>
            <a:ext cx="3993356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10：长任务处理</a:t>
            </a:r>
            <a:endParaRPr lang="en-US" sz="127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1786356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2589" y="1768497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指数退避</a:t>
            </a:r>
            <a:endParaRPr lang="en-US" sz="885" dirty="0"/>
          </a:p>
        </p:txBody>
      </p:sp>
      <p:sp>
        <p:nvSpPr>
          <p:cNvPr id="10" name="Text 5"/>
          <p:cNvSpPr/>
          <p:nvPr/>
        </p:nvSpPr>
        <p:spPr>
          <a:xfrm>
            <a:off x="1226939" y="1768497"/>
            <a:ext cx="128587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：按递增间隔检查状态</a:t>
            </a:r>
            <a:endParaRPr lang="en-US" sz="94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9" y="2077799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2589" y="2059939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后台验证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1226939" y="2059939"/>
            <a:ext cx="128587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：完成后自动校验结果</a:t>
            </a:r>
            <a:endParaRPr lang="en-US" sz="94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9" y="2369241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2589" y="2351382"/>
            <a:ext cx="921544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Ralph Wiggum</a:t>
            </a:r>
            <a:endParaRPr lang="en-US" sz="885" dirty="0"/>
          </a:p>
        </p:txBody>
      </p:sp>
      <p:sp>
        <p:nvSpPr>
          <p:cNvPr id="16" name="Text 9"/>
          <p:cNvSpPr/>
          <p:nvPr/>
        </p:nvSpPr>
        <p:spPr>
          <a:xfrm>
            <a:off x="1634133" y="2351382"/>
            <a:ext cx="115728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：自动循环直到完成</a:t>
            </a:r>
            <a:endParaRPr lang="en-US" sz="940" dirty="0"/>
          </a:p>
        </p:txBody>
      </p:sp>
      <p:sp>
        <p:nvSpPr>
          <p:cNvPr id="17" name="Shape 10"/>
          <p:cNvSpPr/>
          <p:nvPr/>
        </p:nvSpPr>
        <p:spPr>
          <a:xfrm>
            <a:off x="435769" y="2653540"/>
            <a:ext cx="3993356" cy="544711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42925" y="2760697"/>
            <a:ext cx="3779044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建议：在关键检查点进行验证</a:t>
            </a:r>
            <a:endParaRPr lang="en-US" sz="835" dirty="0"/>
          </a:p>
        </p:txBody>
      </p:sp>
      <p:sp>
        <p:nvSpPr>
          <p:cNvPr id="19" name="Text 12"/>
          <p:cNvSpPr/>
          <p:nvPr/>
        </p:nvSpPr>
        <p:spPr>
          <a:xfrm>
            <a:off x="542925" y="2926789"/>
            <a:ext cx="3779044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/loop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5m check_deployment.sh</a:t>
            </a:r>
            <a:endParaRPr lang="en-US" sz="835" dirty="0"/>
          </a:p>
        </p:txBody>
      </p:sp>
      <p:sp>
        <p:nvSpPr>
          <p:cNvPr id="20" name="Text 13"/>
          <p:cNvSpPr/>
          <p:nvPr/>
        </p:nvSpPr>
        <p:spPr>
          <a:xfrm>
            <a:off x="4714875" y="792956"/>
            <a:ext cx="3993356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11：恢复对话与倒带</a:t>
            </a:r>
            <a:endParaRPr lang="en-US" sz="127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193006"/>
            <a:ext cx="128588" cy="1285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991695" y="1175147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恢复会话</a:t>
            </a:r>
            <a:endParaRPr lang="en-US" sz="885" dirty="0"/>
          </a:p>
        </p:txBody>
      </p:sp>
      <p:sp>
        <p:nvSpPr>
          <p:cNvPr id="23" name="Text 15"/>
          <p:cNvSpPr/>
          <p:nvPr/>
        </p:nvSpPr>
        <p:spPr>
          <a:xfrm>
            <a:off x="5506045" y="1175147"/>
            <a:ext cx="115728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：从中断处继续工作</a:t>
            </a:r>
            <a:endParaRPr lang="en-US" sz="94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484449"/>
            <a:ext cx="128588" cy="1285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991695" y="1466590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灵活倒带</a:t>
            </a:r>
            <a:endParaRPr lang="en-US" sz="885" dirty="0"/>
          </a:p>
        </p:txBody>
      </p:sp>
      <p:sp>
        <p:nvSpPr>
          <p:cNvPr id="26" name="Text 17"/>
          <p:cNvSpPr/>
          <p:nvPr/>
        </p:nvSpPr>
        <p:spPr>
          <a:xfrm>
            <a:off x="5506045" y="1466590"/>
            <a:ext cx="1414463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：撤销错误的代码或对话</a:t>
            </a:r>
            <a:endParaRPr lang="en-US" sz="94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775892"/>
            <a:ext cx="128588" cy="1285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991695" y="1758032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及时止损</a:t>
            </a:r>
            <a:endParaRPr lang="en-US" sz="885" dirty="0"/>
          </a:p>
        </p:txBody>
      </p:sp>
      <p:sp>
        <p:nvSpPr>
          <p:cNvPr id="29" name="Text 19"/>
          <p:cNvSpPr/>
          <p:nvPr/>
        </p:nvSpPr>
        <p:spPr>
          <a:xfrm>
            <a:off x="5506045" y="1758032"/>
            <a:ext cx="128587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：两次失败后建议重置</a:t>
            </a:r>
            <a:endParaRPr lang="en-US" sz="940" dirty="0"/>
          </a:p>
        </p:txBody>
      </p:sp>
      <p:sp>
        <p:nvSpPr>
          <p:cNvPr id="30" name="Shape 20"/>
          <p:cNvSpPr/>
          <p:nvPr/>
        </p:nvSpPr>
        <p:spPr>
          <a:xfrm>
            <a:off x="4714875" y="2060191"/>
            <a:ext cx="3993356" cy="841177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822031" y="2167347"/>
            <a:ext cx="1061720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altLang="zh-CN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/fork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</a:t>
            </a:r>
            <a:r>
              <a:rPr lang="zh-CN" alt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克隆当前</a:t>
            </a: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对话</a:t>
            </a:r>
            <a:endParaRPr lang="en-US" sz="835" dirty="0"/>
          </a:p>
        </p:txBody>
      </p:sp>
      <p:sp>
        <p:nvSpPr>
          <p:cNvPr id="32" name="Text 22"/>
          <p:cNvSpPr/>
          <p:nvPr/>
        </p:nvSpPr>
        <p:spPr>
          <a:xfrm>
            <a:off x="4822190" y="2390775"/>
            <a:ext cx="3066415" cy="281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--resume/ --continue </a:t>
            </a: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</a:t>
            </a: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继续</a:t>
            </a:r>
            <a:r>
              <a:rPr lang="zh-CN" alt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某个</a:t>
            </a: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sym typeface="+mn-ea"/>
              </a:rPr>
              <a:t>对话</a:t>
            </a:r>
            <a:endParaRPr lang="en-US" sz="835" dirty="0"/>
          </a:p>
          <a:p>
            <a:pPr marL="0" indent="0" algn="l">
              <a:lnSpc>
                <a:spcPts val="1100"/>
              </a:lnSpc>
              <a:buNone/>
            </a:pPr>
            <a:endParaRPr lang="en-US" sz="835" dirty="0"/>
          </a:p>
        </p:txBody>
      </p:sp>
      <p:sp>
        <p:nvSpPr>
          <p:cNvPr id="33" name="Text 23"/>
          <p:cNvSpPr/>
          <p:nvPr/>
        </p:nvSpPr>
        <p:spPr>
          <a:xfrm>
            <a:off x="4822031" y="2613831"/>
            <a:ext cx="3779044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/rewind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打开倒带菜单</a:t>
            </a:r>
            <a:endParaRPr lang="en-US" sz="835" dirty="0"/>
          </a:p>
        </p:txBody>
      </p:sp>
      <p:sp>
        <p:nvSpPr>
          <p:cNvPr id="34" name="Shape 24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35" name="Text 25"/>
          <p:cNvSpPr/>
          <p:nvPr/>
        </p:nvSpPr>
        <p:spPr>
          <a:xfrm>
            <a:off x="7144" y="4910435"/>
            <a:ext cx="7429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任务管理</a:t>
            </a:r>
            <a:endParaRPr lang="en-US" sz="835" dirty="0"/>
          </a:p>
        </p:txBody>
      </p:sp>
      <p:sp>
        <p:nvSpPr>
          <p:cNvPr id="36" name="Text 26"/>
          <p:cNvSpPr/>
          <p:nvPr/>
        </p:nvSpPr>
        <p:spPr>
          <a:xfrm>
            <a:off x="8443913" y="4918472"/>
            <a:ext cx="692944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/ 12</a:t>
            </a:r>
            <a:endParaRPr lang="en-US" sz="83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45732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--extensions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839809"/>
            <a:ext cx="3993356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扩展机制与通用 Agent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386306"/>
            <a:ext cx="300926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12：CLAUDE.md, Skills, </a:t>
            </a:r>
            <a:r>
              <a:rPr lang="zh-CN" alt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斜杆和</a:t>
            </a:r>
            <a:r>
              <a:rPr lang="zh-CN" alt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插件</a:t>
            </a:r>
            <a:endParaRPr lang="zh-CN" altLang="en-US" sz="1270" dirty="0">
              <a:solidFill>
                <a:srgbClr val="007ACC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35769" y="1743494"/>
            <a:ext cx="3993356" cy="866877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879225"/>
            <a:ext cx="10715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7238" y="1979237"/>
            <a:ext cx="2100263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757238" y="2248914"/>
            <a:ext cx="210026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项目级默认提示词，每个对话开始时自动加载。</a:t>
            </a:r>
            <a:endParaRPr lang="en-US" sz="725" dirty="0"/>
          </a:p>
        </p:txBody>
      </p:sp>
      <p:sp>
        <p:nvSpPr>
          <p:cNvPr id="12" name="Shape 7"/>
          <p:cNvSpPr/>
          <p:nvPr/>
        </p:nvSpPr>
        <p:spPr>
          <a:xfrm>
            <a:off x="435769" y="2703240"/>
            <a:ext cx="3993356" cy="866877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838971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2956" y="2938983"/>
            <a:ext cx="220027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792956" y="3208660"/>
            <a:ext cx="2200275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结构化技能包，支持自动或手动调用的复杂逻辑。</a:t>
            </a:r>
            <a:endParaRPr lang="en-US" sz="725" dirty="0"/>
          </a:p>
        </p:txBody>
      </p:sp>
      <p:sp>
        <p:nvSpPr>
          <p:cNvPr id="16" name="Shape 10"/>
          <p:cNvSpPr/>
          <p:nvPr/>
        </p:nvSpPr>
        <p:spPr>
          <a:xfrm>
            <a:off x="435769" y="3662986"/>
            <a:ext cx="3993356" cy="888309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798717"/>
            <a:ext cx="160734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0816" y="3898729"/>
            <a:ext cx="2180992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斜杠命令</a:t>
            </a:r>
            <a:endParaRPr lang="en-US" sz="885" dirty="0"/>
          </a:p>
        </p:txBody>
      </p:sp>
      <p:sp>
        <p:nvSpPr>
          <p:cNvPr id="19" name="Text 12"/>
          <p:cNvSpPr/>
          <p:nvPr/>
        </p:nvSpPr>
        <p:spPr>
          <a:xfrm>
            <a:off x="810816" y="4193409"/>
            <a:ext cx="1060847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自定义指令集，存放于</a:t>
            </a:r>
            <a:endParaRPr lang="en-US" sz="725" dirty="0"/>
          </a:p>
        </p:txBody>
      </p:sp>
      <p:sp>
        <p:nvSpPr>
          <p:cNvPr id="20" name="Text 13"/>
          <p:cNvSpPr/>
          <p:nvPr/>
        </p:nvSpPr>
        <p:spPr>
          <a:xfrm>
            <a:off x="1871980" y="4189730"/>
            <a:ext cx="1020445" cy="933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.claude/commands/</a:t>
            </a:r>
            <a:endParaRPr lang="en-US" sz="725" dirty="0"/>
          </a:p>
        </p:txBody>
      </p:sp>
      <p:sp>
        <p:nvSpPr>
          <p:cNvPr id="21" name="Text 14"/>
          <p:cNvSpPr/>
          <p:nvPr/>
        </p:nvSpPr>
        <p:spPr>
          <a:xfrm>
            <a:off x="2891796" y="4193409"/>
            <a:ext cx="10001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。</a:t>
            </a:r>
            <a:endParaRPr lang="en-US" sz="725" dirty="0"/>
          </a:p>
        </p:txBody>
      </p:sp>
      <p:sp>
        <p:nvSpPr>
          <p:cNvPr id="22" name="Text 15"/>
          <p:cNvSpPr/>
          <p:nvPr/>
        </p:nvSpPr>
        <p:spPr>
          <a:xfrm>
            <a:off x="4714875" y="792956"/>
            <a:ext cx="3993356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13：作为通用 Agent</a:t>
            </a:r>
            <a:endParaRPr lang="en-US" sz="1270" dirty="0"/>
          </a:p>
        </p:txBody>
      </p:sp>
      <p:sp>
        <p:nvSpPr>
          <p:cNvPr id="23" name="Shape 16"/>
          <p:cNvSpPr/>
          <p:nvPr/>
        </p:nvSpPr>
        <p:spPr>
          <a:xfrm>
            <a:off x="4714875" y="1150144"/>
            <a:ext cx="3993356" cy="2037755"/>
          </a:xfrm>
          <a:prstGeom prst="rect">
            <a:avLst/>
          </a:prstGeom>
          <a:solidFill>
            <a:srgbClr val="007ACC">
              <a:alpha val="5000"/>
            </a:srgbClr>
          </a:solidFill>
          <a:ln w="9144">
            <a:solidFill>
              <a:srgbClr val="007ACC"/>
            </a:solidFill>
            <a:prstDash val="dash"/>
          </a:ln>
        </p:spPr>
      </p:sp>
      <p:sp>
        <p:nvSpPr>
          <p:cNvPr id="24" name="Text 17"/>
          <p:cNvSpPr/>
          <p:nvPr/>
        </p:nvSpPr>
        <p:spPr>
          <a:xfrm>
            <a:off x="4893469" y="1443038"/>
            <a:ext cx="2503170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通过 MCP 集成，Claude 可以</a:t>
            </a:r>
            <a:r>
              <a:rPr lang="zh-CN" alt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调用外部服务和数据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</a:t>
            </a:r>
            <a:endParaRPr lang="en-US" sz="835" dirty="0"/>
          </a:p>
        </p:txBody>
      </p:sp>
      <p:sp>
        <p:nvSpPr>
          <p:cNvPr id="25" name="Shape 18"/>
          <p:cNvSpPr/>
          <p:nvPr/>
        </p:nvSpPr>
        <p:spPr>
          <a:xfrm>
            <a:off x="4893469" y="1716286"/>
            <a:ext cx="721519" cy="232172"/>
          </a:xfrm>
          <a:prstGeom prst="rect">
            <a:avLst/>
          </a:prstGeom>
          <a:solidFill>
            <a:srgbClr val="333333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893469" y="1716286"/>
            <a:ext cx="721519" cy="232172"/>
          </a:xfrm>
          <a:prstGeom prst="rect">
            <a:avLst/>
          </a:prstGeom>
          <a:noFill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Slack 消息</a:t>
            </a:r>
            <a:endParaRPr lang="en-US" sz="725" dirty="0"/>
          </a:p>
        </p:txBody>
      </p:sp>
      <p:sp>
        <p:nvSpPr>
          <p:cNvPr id="27" name="Shape 20"/>
          <p:cNvSpPr/>
          <p:nvPr/>
        </p:nvSpPr>
        <p:spPr>
          <a:xfrm>
            <a:off x="5740003" y="1716286"/>
            <a:ext cx="903684" cy="232172"/>
          </a:xfrm>
          <a:prstGeom prst="rect">
            <a:avLst/>
          </a:prstGeom>
          <a:solidFill>
            <a:srgbClr val="333333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740003" y="1716286"/>
            <a:ext cx="903684" cy="232172"/>
          </a:xfrm>
          <a:prstGeom prst="rect">
            <a:avLst/>
          </a:prstGeom>
          <a:noFill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BigQuery 查询</a:t>
            </a:r>
            <a:endParaRPr lang="en-US" sz="725" dirty="0"/>
          </a:p>
        </p:txBody>
      </p:sp>
      <p:sp>
        <p:nvSpPr>
          <p:cNvPr id="29" name="Shape 22"/>
          <p:cNvSpPr/>
          <p:nvPr/>
        </p:nvSpPr>
        <p:spPr>
          <a:xfrm>
            <a:off x="6768703" y="1716286"/>
            <a:ext cx="782241" cy="232172"/>
          </a:xfrm>
          <a:prstGeom prst="rect">
            <a:avLst/>
          </a:prstGeom>
          <a:solidFill>
            <a:srgbClr val="333333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768703" y="1716286"/>
            <a:ext cx="782241" cy="232172"/>
          </a:xfrm>
          <a:prstGeom prst="rect">
            <a:avLst/>
          </a:prstGeom>
          <a:noFill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Sentry 日志</a:t>
            </a:r>
            <a:endParaRPr lang="en-US" sz="725" dirty="0"/>
          </a:p>
        </p:txBody>
      </p:sp>
      <p:sp>
        <p:nvSpPr>
          <p:cNvPr id="31" name="Shape 24"/>
          <p:cNvSpPr/>
          <p:nvPr/>
        </p:nvSpPr>
        <p:spPr>
          <a:xfrm>
            <a:off x="7675959" y="1716286"/>
            <a:ext cx="739378" cy="232172"/>
          </a:xfrm>
          <a:prstGeom prst="rect">
            <a:avLst/>
          </a:prstGeom>
          <a:solidFill>
            <a:srgbClr val="333333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675959" y="1716286"/>
            <a:ext cx="739378" cy="232172"/>
          </a:xfrm>
          <a:prstGeom prst="rect">
            <a:avLst/>
          </a:prstGeom>
          <a:noFill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 失败调查</a:t>
            </a:r>
            <a:endParaRPr lang="en-US" sz="725" dirty="0"/>
          </a:p>
        </p:txBody>
      </p:sp>
      <p:sp>
        <p:nvSpPr>
          <p:cNvPr id="33" name="Shape 26"/>
          <p:cNvSpPr/>
          <p:nvPr/>
        </p:nvSpPr>
        <p:spPr>
          <a:xfrm>
            <a:off x="4893469" y="2148483"/>
            <a:ext cx="3636169" cy="52863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4" name="Shape 27"/>
          <p:cNvSpPr/>
          <p:nvPr/>
        </p:nvSpPr>
        <p:spPr>
          <a:xfrm>
            <a:off x="4893469" y="2148483"/>
            <a:ext cx="28575" cy="528638"/>
          </a:xfrm>
          <a:prstGeom prst="rect">
            <a:avLst/>
          </a:prstGeom>
          <a:solidFill>
            <a:srgbClr val="4EC9B0"/>
          </a:solidFill>
        </p:spPr>
      </p:sp>
      <p:sp>
        <p:nvSpPr>
          <p:cNvPr id="35" name="Text 28"/>
          <p:cNvSpPr/>
          <p:nvPr/>
        </p:nvSpPr>
        <p:spPr>
          <a:xfrm>
            <a:off x="5000625" y="2255639"/>
            <a:ext cx="3421856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/gha</a:t>
            </a:r>
            <a:endParaRPr lang="en-US" sz="725" dirty="0"/>
          </a:p>
        </p:txBody>
      </p:sp>
      <p:sp>
        <p:nvSpPr>
          <p:cNvPr id="36" name="Text 29"/>
          <p:cNvSpPr/>
          <p:nvPr/>
        </p:nvSpPr>
        <p:spPr>
          <a:xfrm>
            <a:off x="5000625" y="2423517"/>
            <a:ext cx="342185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自动调查 GitHub Actions 失败原因</a:t>
            </a:r>
            <a:endParaRPr lang="en-US" sz="725" dirty="0"/>
          </a:p>
        </p:txBody>
      </p:sp>
      <p:sp>
        <p:nvSpPr>
          <p:cNvPr id="37" name="Text 30"/>
          <p:cNvSpPr/>
          <p:nvPr/>
        </p:nvSpPr>
        <p:spPr>
          <a:xfrm>
            <a:off x="4714875" y="3034308"/>
            <a:ext cx="1627505" cy="114935"/>
          </a:xfrm>
          <a:prstGeom prst="rect">
            <a:avLst/>
          </a:prstGeom>
          <a:noFill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zh-CN" altLang="en-US" sz="685" b="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我们也使用它做故障分析、运维工具</a:t>
            </a:r>
            <a:r>
              <a:rPr lang="zh-CN" altLang="en-US" sz="685" b="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等</a:t>
            </a:r>
            <a:endParaRPr lang="zh-CN" altLang="en-US" sz="685" b="1" dirty="0">
              <a:solidFill>
                <a:srgbClr val="888888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39" name="Text 32"/>
          <p:cNvSpPr/>
          <p:nvPr/>
        </p:nvSpPr>
        <p:spPr>
          <a:xfrm>
            <a:off x="7144" y="4910435"/>
            <a:ext cx="8572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扩展与集成</a:t>
            </a:r>
            <a:endParaRPr lang="en-US" sz="835" dirty="0"/>
          </a:p>
        </p:txBody>
      </p:sp>
      <p:sp>
        <p:nvSpPr>
          <p:cNvPr id="40" name="Text 33"/>
          <p:cNvSpPr/>
          <p:nvPr/>
        </p:nvSpPr>
        <p:spPr>
          <a:xfrm>
            <a:off x="8443913" y="4918472"/>
            <a:ext cx="692944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/ 12</a:t>
            </a:r>
            <a:endParaRPr lang="en-US" sz="835" dirty="0"/>
          </a:p>
        </p:txBody>
      </p:sp>
      <p:sp>
        <p:nvSpPr>
          <p:cNvPr id="41" name="Shape 4"/>
          <p:cNvSpPr/>
          <p:nvPr/>
        </p:nvSpPr>
        <p:spPr>
          <a:xfrm>
            <a:off x="4722654" y="3684054"/>
            <a:ext cx="3993356" cy="866877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10" y="3819785"/>
            <a:ext cx="107156" cy="142875"/>
          </a:xfrm>
          <a:prstGeom prst="rect">
            <a:avLst/>
          </a:prstGeom>
        </p:spPr>
      </p:pic>
      <p:sp>
        <p:nvSpPr>
          <p:cNvPr id="43" name="Text 5"/>
          <p:cNvSpPr/>
          <p:nvPr/>
        </p:nvSpPr>
        <p:spPr>
          <a:xfrm>
            <a:off x="5044123" y="3919797"/>
            <a:ext cx="22733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ts val="1200"/>
              </a:lnSpc>
              <a:buNone/>
            </a:pPr>
            <a:r>
              <a:rPr lang="zh-CN" altLang="en-US" sz="88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插件</a:t>
            </a:r>
            <a:endParaRPr lang="en-US" sz="885" dirty="0"/>
          </a:p>
        </p:txBody>
      </p:sp>
      <p:sp>
        <p:nvSpPr>
          <p:cNvPr id="44" name="Text 6"/>
          <p:cNvSpPr/>
          <p:nvPr/>
        </p:nvSpPr>
        <p:spPr>
          <a:xfrm>
            <a:off x="5044123" y="4189474"/>
            <a:ext cx="2736850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ts val="1100"/>
              </a:lnSpc>
              <a:buNone/>
            </a:pPr>
            <a:r>
              <a:rPr lang="zh-CN" alt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将技能、斜杠命令、代理、</a:t>
            </a:r>
            <a:r>
              <a:rPr lang="en-US" altLang="zh-CN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 </a:t>
            </a:r>
            <a:r>
              <a:rPr lang="zh-CN" alt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和</a:t>
            </a:r>
            <a:r>
              <a:rPr lang="en-US" altLang="zh-CN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MCP </a:t>
            </a:r>
            <a:r>
              <a:rPr lang="zh-CN" alt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服务器打包在一起的方式</a:t>
            </a:r>
            <a:endParaRPr lang="en-US" sz="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45732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--automation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839809"/>
            <a:ext cx="3993356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自动化与子代理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386306"/>
            <a:ext cx="205295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14 &amp; 15：后台与子代理</a:t>
            </a:r>
            <a:endParaRPr lang="en-US" sz="127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1788142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2589" y="1770283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后台运行</a:t>
            </a:r>
            <a:endParaRPr lang="en-US" sz="885" dirty="0"/>
          </a:p>
        </p:txBody>
      </p:sp>
      <p:sp>
        <p:nvSpPr>
          <p:cNvPr id="10" name="Text 5"/>
          <p:cNvSpPr/>
          <p:nvPr/>
        </p:nvSpPr>
        <p:spPr>
          <a:xfrm>
            <a:off x="1226939" y="1770283"/>
            <a:ext cx="33397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：按</a:t>
            </a:r>
            <a:endParaRPr lang="en-US" sz="940" dirty="0"/>
          </a:p>
        </p:txBody>
      </p:sp>
      <p:sp>
        <p:nvSpPr>
          <p:cNvPr id="11" name="Text 6"/>
          <p:cNvSpPr/>
          <p:nvPr/>
        </p:nvSpPr>
        <p:spPr>
          <a:xfrm>
            <a:off x="1560909" y="1764925"/>
            <a:ext cx="46292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Ctrl+B</a:t>
            </a:r>
            <a:endParaRPr lang="en-US" sz="940" dirty="0"/>
          </a:p>
        </p:txBody>
      </p:sp>
      <p:sp>
        <p:nvSpPr>
          <p:cNvPr id="12" name="Text 7"/>
          <p:cNvSpPr/>
          <p:nvPr/>
        </p:nvSpPr>
        <p:spPr>
          <a:xfrm>
            <a:off x="2023830" y="1770283"/>
            <a:ext cx="719733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挂起长任务</a:t>
            </a:r>
            <a:endParaRPr lang="en-US" sz="94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9" y="2079585"/>
            <a:ext cx="112514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6516" y="2061725"/>
            <a:ext cx="69115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Subagents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387673" y="2061725"/>
            <a:ext cx="102870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：独立上下文运行</a:t>
            </a:r>
            <a:endParaRPr lang="en-US" sz="94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9" y="2371027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2589" y="2353168"/>
            <a:ext cx="25717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用途</a:t>
            </a:r>
            <a:endParaRPr lang="en-US" sz="885" dirty="0"/>
          </a:p>
        </p:txBody>
      </p:sp>
      <p:sp>
        <p:nvSpPr>
          <p:cNvPr id="18" name="Text 11"/>
          <p:cNvSpPr/>
          <p:nvPr/>
        </p:nvSpPr>
        <p:spPr>
          <a:xfrm>
            <a:off x="969764" y="2353168"/>
            <a:ext cx="1414463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：调查代码库、验证实现</a:t>
            </a:r>
            <a:endParaRPr lang="en-US" sz="940" dirty="0"/>
          </a:p>
        </p:txBody>
      </p:sp>
      <p:sp>
        <p:nvSpPr>
          <p:cNvPr id="19" name="Shape 12"/>
          <p:cNvSpPr/>
          <p:nvPr/>
        </p:nvSpPr>
        <p:spPr>
          <a:xfrm>
            <a:off x="435769" y="2655326"/>
            <a:ext cx="3993356" cy="544711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42925" y="2762483"/>
            <a:ext cx="3779044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在独立上下文中并行分析</a:t>
            </a:r>
            <a:endParaRPr lang="en-US" sz="835" dirty="0"/>
          </a:p>
        </p:txBody>
      </p:sp>
      <p:sp>
        <p:nvSpPr>
          <p:cNvPr id="21" name="Text 14"/>
          <p:cNvSpPr/>
          <p:nvPr/>
        </p:nvSpPr>
        <p:spPr>
          <a:xfrm>
            <a:off x="542925" y="2928575"/>
            <a:ext cx="3779044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/agent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investigate_bug.sh</a:t>
            </a:r>
            <a:endParaRPr lang="en-US" sz="835" dirty="0"/>
          </a:p>
        </p:txBody>
      </p:sp>
      <p:sp>
        <p:nvSpPr>
          <p:cNvPr id="22" name="Text 15"/>
          <p:cNvSpPr/>
          <p:nvPr/>
        </p:nvSpPr>
        <p:spPr>
          <a:xfrm>
            <a:off x="4714875" y="792956"/>
            <a:ext cx="189039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16：组建 Agent 团队</a:t>
            </a:r>
            <a:endParaRPr lang="en-US" sz="12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193006"/>
            <a:ext cx="160734" cy="1285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23842" y="1175147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协同处理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5538192" y="1175147"/>
            <a:ext cx="128587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：多代理处理复杂任务</a:t>
            </a:r>
            <a:endParaRPr lang="en-US" sz="94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484449"/>
            <a:ext cx="144661" cy="1285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007769" y="1466590"/>
            <a:ext cx="537567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Explore</a:t>
            </a:r>
            <a:endParaRPr lang="en-US" sz="885" dirty="0"/>
          </a:p>
        </p:txBody>
      </p:sp>
      <p:sp>
        <p:nvSpPr>
          <p:cNvPr id="28" name="Text 19"/>
          <p:cNvSpPr/>
          <p:nvPr/>
        </p:nvSpPr>
        <p:spPr>
          <a:xfrm>
            <a:off x="5545336" y="1466590"/>
            <a:ext cx="102870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：只读探索代码库</a:t>
            </a:r>
            <a:endParaRPr lang="en-US" sz="94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775892"/>
            <a:ext cx="128588" cy="12858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91695" y="1758032"/>
            <a:ext cx="1075134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 &amp; General</a:t>
            </a:r>
            <a:endParaRPr lang="en-US" sz="885" dirty="0"/>
          </a:p>
        </p:txBody>
      </p:sp>
      <p:sp>
        <p:nvSpPr>
          <p:cNvPr id="31" name="Text 21"/>
          <p:cNvSpPr/>
          <p:nvPr/>
        </p:nvSpPr>
        <p:spPr>
          <a:xfrm>
            <a:off x="6066830" y="1758032"/>
            <a:ext cx="77152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：规划与执行</a:t>
            </a:r>
            <a:endParaRPr lang="en-US" sz="940" dirty="0"/>
          </a:p>
        </p:txBody>
      </p:sp>
      <p:sp>
        <p:nvSpPr>
          <p:cNvPr id="32" name="Shape 22"/>
          <p:cNvSpPr/>
          <p:nvPr/>
        </p:nvSpPr>
        <p:spPr>
          <a:xfrm>
            <a:off x="4714875" y="2060191"/>
            <a:ext cx="3993356" cy="544711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4822031" y="2167347"/>
            <a:ext cx="3779044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适用于大型重构或全栈功能</a:t>
            </a:r>
            <a:endParaRPr lang="en-US" sz="835" dirty="0"/>
          </a:p>
        </p:txBody>
      </p:sp>
      <p:sp>
        <p:nvSpPr>
          <p:cNvPr id="34" name="Text 24"/>
          <p:cNvSpPr/>
          <p:nvPr/>
        </p:nvSpPr>
        <p:spPr>
          <a:xfrm>
            <a:off x="4822031" y="2333439"/>
            <a:ext cx="2266950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zh-CN" alt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组建一个包含四个队员的我团队，</a:t>
            </a:r>
            <a:r>
              <a:rPr lang="en-US" altLang="zh-CN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zh-CN" alt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实现</a:t>
            </a:r>
            <a:r>
              <a:rPr lang="en-US" altLang="zh-CN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xxxxxxx</a:t>
            </a:r>
            <a:endParaRPr lang="en-US" sz="835" dirty="0"/>
          </a:p>
        </p:txBody>
      </p:sp>
      <p:sp>
        <p:nvSpPr>
          <p:cNvPr id="35" name="Shape 25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36" name="Text 26"/>
          <p:cNvSpPr/>
          <p:nvPr/>
        </p:nvSpPr>
        <p:spPr>
          <a:xfrm>
            <a:off x="7144" y="4910435"/>
            <a:ext cx="8572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自动化协作</a:t>
            </a:r>
            <a:endParaRPr lang="en-US" sz="835" dirty="0"/>
          </a:p>
        </p:txBody>
      </p:sp>
      <p:sp>
        <p:nvSpPr>
          <p:cNvPr id="37" name="Text 27"/>
          <p:cNvSpPr/>
          <p:nvPr/>
        </p:nvSpPr>
        <p:spPr>
          <a:xfrm>
            <a:off x="8443913" y="4918472"/>
            <a:ext cx="692944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/ 12</a:t>
            </a:r>
            <a:endParaRPr lang="en-US" sz="8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45732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--navigation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839809"/>
            <a:ext cx="3993356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输入导航与远程控制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386306"/>
            <a:ext cx="181991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17：终端导航快捷键</a:t>
            </a:r>
            <a:endParaRPr lang="en-US" sz="1270" dirty="0"/>
          </a:p>
        </p:txBody>
      </p:sp>
      <p:sp>
        <p:nvSpPr>
          <p:cNvPr id="8" name="Shape 4"/>
          <p:cNvSpPr/>
          <p:nvPr/>
        </p:nvSpPr>
        <p:spPr>
          <a:xfrm>
            <a:off x="435769" y="1743494"/>
            <a:ext cx="714375" cy="221456"/>
          </a:xfrm>
          <a:prstGeom prst="rect">
            <a:avLst/>
          </a:prstGeom>
          <a:solidFill>
            <a:srgbClr val="333333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5769" y="1743494"/>
            <a:ext cx="714375" cy="221456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Ctrl+A/E</a:t>
            </a:r>
            <a:endParaRPr lang="en-US" sz="835" dirty="0"/>
          </a:p>
        </p:txBody>
      </p:sp>
      <p:sp>
        <p:nvSpPr>
          <p:cNvPr id="10" name="Text 6"/>
          <p:cNvSpPr/>
          <p:nvPr/>
        </p:nvSpPr>
        <p:spPr>
          <a:xfrm>
            <a:off x="1257300" y="1752423"/>
            <a:ext cx="1130498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跳转到行首 / 行尾</a:t>
            </a:r>
            <a:endParaRPr lang="en-US" sz="940" dirty="0"/>
          </a:p>
        </p:txBody>
      </p:sp>
      <p:sp>
        <p:nvSpPr>
          <p:cNvPr id="11" name="Shape 7"/>
          <p:cNvSpPr/>
          <p:nvPr/>
        </p:nvSpPr>
        <p:spPr>
          <a:xfrm>
            <a:off x="435769" y="2036387"/>
            <a:ext cx="714375" cy="226814"/>
          </a:xfrm>
          <a:prstGeom prst="rect">
            <a:avLst/>
          </a:prstGeom>
          <a:solidFill>
            <a:srgbClr val="333333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5769" y="2036387"/>
            <a:ext cx="714375" cy="226814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Opt+←/→</a:t>
            </a:r>
            <a:endParaRPr lang="en-US" sz="835" dirty="0"/>
          </a:p>
        </p:txBody>
      </p:sp>
      <p:sp>
        <p:nvSpPr>
          <p:cNvPr id="13" name="Text 9"/>
          <p:cNvSpPr/>
          <p:nvPr/>
        </p:nvSpPr>
        <p:spPr>
          <a:xfrm>
            <a:off x="1257300" y="2047996"/>
            <a:ext cx="900113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按单词左右跳转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435769" y="2334639"/>
            <a:ext cx="714375" cy="221456"/>
          </a:xfrm>
          <a:prstGeom prst="rect">
            <a:avLst/>
          </a:prstGeom>
          <a:solidFill>
            <a:srgbClr val="333333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5769" y="2334639"/>
            <a:ext cx="714375" cy="221456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Ctrl+W</a:t>
            </a:r>
            <a:endParaRPr lang="en-US" sz="835" dirty="0"/>
          </a:p>
        </p:txBody>
      </p:sp>
      <p:sp>
        <p:nvSpPr>
          <p:cNvPr id="16" name="Text 12"/>
          <p:cNvSpPr/>
          <p:nvPr/>
        </p:nvSpPr>
        <p:spPr>
          <a:xfrm>
            <a:off x="1257300" y="2343569"/>
            <a:ext cx="1157288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删除光标前一个单词</a:t>
            </a:r>
            <a:endParaRPr lang="en-US" sz="940" dirty="0"/>
          </a:p>
        </p:txBody>
      </p:sp>
      <p:sp>
        <p:nvSpPr>
          <p:cNvPr id="17" name="Shape 13"/>
          <p:cNvSpPr/>
          <p:nvPr/>
        </p:nvSpPr>
        <p:spPr>
          <a:xfrm>
            <a:off x="435769" y="2627533"/>
            <a:ext cx="714375" cy="221456"/>
          </a:xfrm>
          <a:prstGeom prst="rect">
            <a:avLst/>
          </a:prstGeom>
          <a:solidFill>
            <a:srgbClr val="333333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5769" y="2627533"/>
            <a:ext cx="714375" cy="221456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Ctrl+U/K</a:t>
            </a:r>
            <a:endParaRPr lang="en-US" sz="835" dirty="0"/>
          </a:p>
        </p:txBody>
      </p:sp>
      <p:sp>
        <p:nvSpPr>
          <p:cNvPr id="19" name="Text 15"/>
          <p:cNvSpPr/>
          <p:nvPr/>
        </p:nvSpPr>
        <p:spPr>
          <a:xfrm>
            <a:off x="1257300" y="2636462"/>
            <a:ext cx="1130498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删除到行首 / 行尾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435769" y="2906139"/>
            <a:ext cx="3993356" cy="694730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2925" y="3013295"/>
            <a:ext cx="3779044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换行输入：输入 \ 后按 Enter</a:t>
            </a:r>
            <a:endParaRPr lang="en-US" sz="835" dirty="0"/>
          </a:p>
        </p:txBody>
      </p:sp>
      <p:sp>
        <p:nvSpPr>
          <p:cNvPr id="22" name="Text 18"/>
          <p:cNvSpPr/>
          <p:nvPr/>
        </p:nvSpPr>
        <p:spPr>
          <a:xfrm>
            <a:off x="542925" y="3179387"/>
            <a:ext cx="3779044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want to build a feature \</a:t>
            </a:r>
            <a:endParaRPr lang="en-US" sz="835" dirty="0"/>
          </a:p>
        </p:txBody>
      </p:sp>
      <p:sp>
        <p:nvSpPr>
          <p:cNvPr id="23" name="Text 19"/>
          <p:cNvSpPr/>
          <p:nvPr/>
        </p:nvSpPr>
        <p:spPr>
          <a:xfrm>
            <a:off x="542925" y="3329406"/>
            <a:ext cx="3779044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that supports multi-line input.</a:t>
            </a:r>
            <a:endParaRPr lang="en-US" sz="835" dirty="0"/>
          </a:p>
        </p:txBody>
      </p:sp>
      <p:sp>
        <p:nvSpPr>
          <p:cNvPr id="24" name="Text 20"/>
          <p:cNvSpPr/>
          <p:nvPr/>
        </p:nvSpPr>
        <p:spPr>
          <a:xfrm>
            <a:off x="4714875" y="792956"/>
            <a:ext cx="166687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18：使用远程控制</a:t>
            </a:r>
            <a:endParaRPr lang="en-US" sz="1270" dirty="0"/>
          </a:p>
        </p:txBody>
      </p:sp>
      <p:sp>
        <p:nvSpPr>
          <p:cNvPr id="25" name="Text 21"/>
          <p:cNvSpPr/>
          <p:nvPr/>
        </p:nvSpPr>
        <p:spPr>
          <a:xfrm>
            <a:off x="4714875" y="1157288"/>
            <a:ext cx="3993356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连接本地会话，从移动设备继续工作：</a:t>
            </a:r>
            <a:endParaRPr lang="en-US" sz="835" dirty="0"/>
          </a:p>
        </p:txBody>
      </p:sp>
      <p:sp>
        <p:nvSpPr>
          <p:cNvPr id="26" name="Shape 22"/>
          <p:cNvSpPr/>
          <p:nvPr/>
        </p:nvSpPr>
        <p:spPr>
          <a:xfrm>
            <a:off x="4714875" y="1430655"/>
            <a:ext cx="3993515" cy="373380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22031" y="1537692"/>
            <a:ext cx="3779044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remote-control </a:t>
            </a:r>
            <a:r>
              <a:rPr lang="en-US" sz="83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启动会话</a:t>
            </a:r>
            <a:endParaRPr lang="en-US" sz="835" dirty="0"/>
          </a:p>
        </p:txBody>
      </p:sp>
      <p:sp>
        <p:nvSpPr>
          <p:cNvPr id="29" name="Text 25"/>
          <p:cNvSpPr/>
          <p:nvPr/>
        </p:nvSpPr>
        <p:spPr>
          <a:xfrm>
            <a:off x="4714875" y="2248495"/>
            <a:ext cx="3993356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模式切换</a:t>
            </a:r>
            <a:endParaRPr lang="en-US" sz="1270" dirty="0"/>
          </a:p>
        </p:txBody>
      </p:sp>
      <p:sp>
        <p:nvSpPr>
          <p:cNvPr id="30" name="Shape 26"/>
          <p:cNvSpPr/>
          <p:nvPr/>
        </p:nvSpPr>
        <p:spPr>
          <a:xfrm>
            <a:off x="4714875" y="2605683"/>
            <a:ext cx="739378" cy="221456"/>
          </a:xfrm>
          <a:prstGeom prst="rect">
            <a:avLst/>
          </a:prstGeom>
          <a:solidFill>
            <a:srgbClr val="333333"/>
          </a:solidFill>
          <a:ln w="9144">
            <a:solidFill>
              <a:srgbClr val="4EC9B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14875" y="2605683"/>
            <a:ext cx="739378" cy="221456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Shift+Tab</a:t>
            </a:r>
            <a:endParaRPr lang="en-US" sz="835" dirty="0"/>
          </a:p>
        </p:txBody>
      </p:sp>
      <p:sp>
        <p:nvSpPr>
          <p:cNvPr id="32" name="Text 28"/>
          <p:cNvSpPr/>
          <p:nvPr/>
        </p:nvSpPr>
        <p:spPr>
          <a:xfrm>
            <a:off x="5547122" y="2614613"/>
            <a:ext cx="273431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切换 Normal / </a:t>
            </a:r>
            <a:r>
              <a:rPr lang="en-US" altLang="zh-CN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bypass permissions on</a:t>
            </a: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Plan 模式</a:t>
            </a:r>
            <a:endParaRPr lang="en-US" sz="940" dirty="0"/>
          </a:p>
        </p:txBody>
      </p:sp>
      <p:sp>
        <p:nvSpPr>
          <p:cNvPr id="34" name="Shape 30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35" name="Text 31"/>
          <p:cNvSpPr/>
          <p:nvPr/>
        </p:nvSpPr>
        <p:spPr>
          <a:xfrm>
            <a:off x="7144" y="4910435"/>
            <a:ext cx="8572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输入与控制</a:t>
            </a:r>
            <a:endParaRPr lang="en-US" sz="835" dirty="0"/>
          </a:p>
        </p:txBody>
      </p:sp>
      <p:sp>
        <p:nvSpPr>
          <p:cNvPr id="36" name="Text 32"/>
          <p:cNvSpPr/>
          <p:nvPr/>
        </p:nvSpPr>
        <p:spPr>
          <a:xfrm>
            <a:off x="8443913" y="4918472"/>
            <a:ext cx="692944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/ 12</a:t>
            </a:r>
            <a:endParaRPr lang="en-US" sz="8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639491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--collaboration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839809"/>
            <a:ext cx="3993356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规则管理与团队协作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386306"/>
            <a:ext cx="3993356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19-20：CLAUDE.md</a:t>
            </a:r>
            <a:endParaRPr lang="en-US" sz="1270" dirty="0"/>
          </a:p>
        </p:txBody>
      </p:sp>
      <p:sp>
        <p:nvSpPr>
          <p:cNvPr id="8" name="Shape 4"/>
          <p:cNvSpPr/>
          <p:nvPr/>
        </p:nvSpPr>
        <p:spPr>
          <a:xfrm>
            <a:off x="435769" y="1743494"/>
            <a:ext cx="3993356" cy="1285875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1923873"/>
            <a:ext cx="128588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5464" y="1906014"/>
            <a:ext cx="64293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快速初始化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1498402" y="1906014"/>
            <a:ext cx="46255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：使用</a:t>
            </a:r>
            <a:endParaRPr lang="en-US" sz="940" dirty="0"/>
          </a:p>
        </p:txBody>
      </p:sp>
      <p:sp>
        <p:nvSpPr>
          <p:cNvPr id="12" name="Text 7"/>
          <p:cNvSpPr/>
          <p:nvPr/>
        </p:nvSpPr>
        <p:spPr>
          <a:xfrm>
            <a:off x="1960959" y="1900656"/>
            <a:ext cx="38579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/init</a:t>
            </a:r>
            <a:endParaRPr lang="en-US" sz="940" dirty="0"/>
          </a:p>
        </p:txBody>
      </p:sp>
      <p:sp>
        <p:nvSpPr>
          <p:cNvPr id="13" name="Text 8"/>
          <p:cNvSpPr/>
          <p:nvPr/>
        </p:nvSpPr>
        <p:spPr>
          <a:xfrm>
            <a:off x="2346750" y="1906014"/>
            <a:ext cx="97690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自动检测框架。</a:t>
            </a:r>
            <a:endParaRPr lang="en-US" sz="94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44" y="2215316"/>
            <a:ext cx="160734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7611" y="2197457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团队共享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1401961" y="2197457"/>
            <a:ext cx="1850231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：提交到 Git，同步开发规范。</a:t>
            </a:r>
            <a:endParaRPr lang="en-US" sz="94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4" y="2506759"/>
            <a:ext cx="128588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5464" y="2488899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保持简洁</a:t>
            </a:r>
            <a:endParaRPr lang="en-US" sz="885" dirty="0"/>
          </a:p>
        </p:txBody>
      </p:sp>
      <p:sp>
        <p:nvSpPr>
          <p:cNvPr id="19" name="Text 12"/>
          <p:cNvSpPr/>
          <p:nvPr/>
        </p:nvSpPr>
        <p:spPr>
          <a:xfrm>
            <a:off x="1369814" y="2488899"/>
            <a:ext cx="2157413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：只包含 Claude 无法猜测的内容。</a:t>
            </a:r>
            <a:endParaRPr lang="en-US" sz="940" dirty="0"/>
          </a:p>
        </p:txBody>
      </p:sp>
      <p:sp>
        <p:nvSpPr>
          <p:cNvPr id="20" name="Shape 13"/>
          <p:cNvSpPr/>
          <p:nvPr/>
        </p:nvSpPr>
        <p:spPr>
          <a:xfrm>
            <a:off x="435769" y="3100806"/>
            <a:ext cx="3993356" cy="394692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42925" y="3207962"/>
            <a:ext cx="3779044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/init</a:t>
            </a: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83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自动生成项目规则</a:t>
            </a:r>
            <a:endParaRPr lang="en-US" sz="835" dirty="0"/>
          </a:p>
        </p:txBody>
      </p:sp>
      <p:sp>
        <p:nvSpPr>
          <p:cNvPr id="22" name="Text 15"/>
          <p:cNvSpPr/>
          <p:nvPr/>
        </p:nvSpPr>
        <p:spPr>
          <a:xfrm>
            <a:off x="4714875" y="792956"/>
            <a:ext cx="3993356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21：PR 自动更新</a:t>
            </a:r>
            <a:endParaRPr lang="en-US" sz="1270" dirty="0"/>
          </a:p>
        </p:txBody>
      </p:sp>
      <p:sp>
        <p:nvSpPr>
          <p:cNvPr id="23" name="Shape 16"/>
          <p:cNvSpPr/>
          <p:nvPr/>
        </p:nvSpPr>
        <p:spPr>
          <a:xfrm>
            <a:off x="4714875" y="1364615"/>
            <a:ext cx="3993515" cy="669290"/>
          </a:xfrm>
          <a:prstGeom prst="rect">
            <a:avLst/>
          </a:prstGeom>
          <a:solidFill>
            <a:srgbClr val="252526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623752"/>
            <a:ext cx="128588" cy="1285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057775" y="1605893"/>
            <a:ext cx="168084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将</a:t>
            </a:r>
            <a:r>
              <a:rPr lang="zh-CN" alt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新的经验</a:t>
            </a: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沉淀到 </a:t>
            </a:r>
            <a:r>
              <a:rPr lang="en-US" sz="94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endParaRPr lang="en-US" sz="940" dirty="0">
              <a:solidFill>
                <a:srgbClr val="D4D4D4"/>
              </a:solidFill>
              <a:latin typeface="JetBrains Mono" pitchFamily="34" charset="0"/>
              <a:ea typeface="JetBrains Mono" pitchFamily="34" charset="-122"/>
              <a:cs typeface="JetBrains Mono" pitchFamily="34" charset="-120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4714875" y="2650331"/>
            <a:ext cx="3993356" cy="947942"/>
          </a:xfrm>
          <a:prstGeom prst="rect">
            <a:avLst/>
          </a:prstGeom>
          <a:solidFill>
            <a:srgbClr val="4EC9B0">
              <a:alpha val="5000"/>
            </a:srgbClr>
          </a:solidFill>
          <a:ln w="9144">
            <a:solidFill>
              <a:srgbClr val="4EC9B0"/>
            </a:solidFill>
            <a:prstDash val="dash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825353"/>
            <a:ext cx="114300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972050" y="2809280"/>
            <a:ext cx="7536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规则进化飞轮</a:t>
            </a:r>
            <a:endParaRPr lang="en-US" sz="785" dirty="0"/>
          </a:p>
        </p:txBody>
      </p:sp>
      <p:sp>
        <p:nvSpPr>
          <p:cNvPr id="35" name="Text 25"/>
          <p:cNvSpPr/>
          <p:nvPr/>
        </p:nvSpPr>
        <p:spPr>
          <a:xfrm>
            <a:off x="4857750" y="3064669"/>
            <a:ext cx="2046684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每当 Claude 做错什么，就将修正规则加入</a:t>
            </a:r>
            <a:endParaRPr lang="en-US" sz="725" dirty="0"/>
          </a:p>
        </p:txBody>
      </p:sp>
      <p:sp>
        <p:nvSpPr>
          <p:cNvPr id="36" name="Text 26"/>
          <p:cNvSpPr/>
          <p:nvPr/>
        </p:nvSpPr>
        <p:spPr>
          <a:xfrm>
            <a:off x="6904434" y="3061097"/>
            <a:ext cx="540079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CLAUDE.md</a:t>
            </a:r>
            <a:endParaRPr lang="en-US" sz="725" dirty="0"/>
          </a:p>
        </p:txBody>
      </p:sp>
      <p:sp>
        <p:nvSpPr>
          <p:cNvPr id="37" name="Text 27"/>
          <p:cNvSpPr/>
          <p:nvPr/>
        </p:nvSpPr>
        <p:spPr>
          <a:xfrm>
            <a:off x="7444513" y="3064669"/>
            <a:ext cx="1082278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。通过持续迭代，让 AI</a:t>
            </a:r>
            <a:endParaRPr lang="en-US" sz="725" dirty="0"/>
          </a:p>
        </p:txBody>
      </p:sp>
      <p:sp>
        <p:nvSpPr>
          <p:cNvPr id="38" name="Text 28"/>
          <p:cNvSpPr/>
          <p:nvPr/>
        </p:nvSpPr>
        <p:spPr>
          <a:xfrm>
            <a:off x="4857750" y="3204670"/>
            <a:ext cx="90011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越来越懂你的项目。</a:t>
            </a:r>
            <a:endParaRPr lang="en-US" sz="725" dirty="0"/>
          </a:p>
        </p:txBody>
      </p:sp>
      <p:sp>
        <p:nvSpPr>
          <p:cNvPr id="39" name="Shape 29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40" name="Text 30"/>
          <p:cNvSpPr/>
          <p:nvPr/>
        </p:nvSpPr>
        <p:spPr>
          <a:xfrm>
            <a:off x="7144" y="4910435"/>
            <a:ext cx="8572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规则与协作</a:t>
            </a:r>
            <a:endParaRPr lang="en-US" sz="835" dirty="0"/>
          </a:p>
        </p:txBody>
      </p:sp>
      <p:sp>
        <p:nvSpPr>
          <p:cNvPr id="41" name="Text 31"/>
          <p:cNvSpPr/>
          <p:nvPr/>
        </p:nvSpPr>
        <p:spPr>
          <a:xfrm>
            <a:off x="8376047" y="4918472"/>
            <a:ext cx="760809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83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70021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--security-hooks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839809"/>
            <a:ext cx="3993356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安全权限与自动化钩子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386306"/>
            <a:ext cx="3993356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22：权限预授权</a:t>
            </a:r>
            <a:endParaRPr lang="en-US" sz="127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1772069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1506" y="1743494"/>
            <a:ext cx="228600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使用</a:t>
            </a:r>
            <a:endParaRPr lang="en-US" sz="835" dirty="0"/>
          </a:p>
        </p:txBody>
      </p:sp>
      <p:sp>
        <p:nvSpPr>
          <p:cNvPr id="10" name="Text 5"/>
          <p:cNvSpPr/>
          <p:nvPr/>
        </p:nvSpPr>
        <p:spPr>
          <a:xfrm>
            <a:off x="921544" y="1743494"/>
            <a:ext cx="822982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/permissions</a:t>
            </a:r>
            <a:endParaRPr lang="en-US" sz="835" dirty="0"/>
          </a:p>
        </p:txBody>
      </p:sp>
      <p:sp>
        <p:nvSpPr>
          <p:cNvPr id="11" name="Text 6"/>
          <p:cNvSpPr/>
          <p:nvPr/>
        </p:nvSpPr>
        <p:spPr>
          <a:xfrm>
            <a:off x="1815964" y="1743494"/>
            <a:ext cx="1143000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配置安全命令白名单。</a:t>
            </a:r>
            <a:endParaRPr lang="en-US" sz="835" dirty="0"/>
          </a:p>
        </p:txBody>
      </p:sp>
      <p:sp>
        <p:nvSpPr>
          <p:cNvPr id="12" name="Shape 7"/>
          <p:cNvSpPr/>
          <p:nvPr/>
        </p:nvSpPr>
        <p:spPr>
          <a:xfrm>
            <a:off x="435769" y="1981023"/>
            <a:ext cx="3993356" cy="1208605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2925" y="2088180"/>
            <a:ext cx="3779044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.claude/settings.json</a:t>
            </a:r>
            <a:endParaRPr lang="en-US" sz="725" dirty="0"/>
          </a:p>
        </p:txBody>
      </p:sp>
      <p:sp>
        <p:nvSpPr>
          <p:cNvPr id="14" name="Text 9"/>
          <p:cNvSpPr/>
          <p:nvPr/>
        </p:nvSpPr>
        <p:spPr>
          <a:xfrm>
            <a:off x="542925" y="2231752"/>
            <a:ext cx="60722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725" dirty="0"/>
          </a:p>
        </p:txBody>
      </p:sp>
      <p:sp>
        <p:nvSpPr>
          <p:cNvPr id="15" name="Text 10"/>
          <p:cNvSpPr/>
          <p:nvPr/>
        </p:nvSpPr>
        <p:spPr>
          <a:xfrm>
            <a:off x="542925" y="2371753"/>
            <a:ext cx="789384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"permissions"</a:t>
            </a:r>
            <a:endParaRPr lang="en-US" sz="725" dirty="0"/>
          </a:p>
        </p:txBody>
      </p:sp>
      <p:sp>
        <p:nvSpPr>
          <p:cNvPr id="16" name="Text 11"/>
          <p:cNvSpPr/>
          <p:nvPr/>
        </p:nvSpPr>
        <p:spPr>
          <a:xfrm>
            <a:off x="1332309" y="2371753"/>
            <a:ext cx="182166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725" dirty="0"/>
          </a:p>
        </p:txBody>
      </p:sp>
      <p:sp>
        <p:nvSpPr>
          <p:cNvPr id="17" name="Text 12"/>
          <p:cNvSpPr/>
          <p:nvPr/>
        </p:nvSpPr>
        <p:spPr>
          <a:xfrm>
            <a:off x="542925" y="2511754"/>
            <a:ext cx="42505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"allow"</a:t>
            </a:r>
            <a:endParaRPr lang="en-US" sz="725" dirty="0"/>
          </a:p>
        </p:txBody>
      </p:sp>
      <p:sp>
        <p:nvSpPr>
          <p:cNvPr id="18" name="Text 13"/>
          <p:cNvSpPr/>
          <p:nvPr/>
        </p:nvSpPr>
        <p:spPr>
          <a:xfrm>
            <a:off x="967978" y="2511754"/>
            <a:ext cx="182166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[</a:t>
            </a:r>
            <a:endParaRPr lang="en-US" sz="725" dirty="0"/>
          </a:p>
        </p:txBody>
      </p:sp>
      <p:sp>
        <p:nvSpPr>
          <p:cNvPr id="19" name="Text 14"/>
          <p:cNvSpPr/>
          <p:nvPr/>
        </p:nvSpPr>
        <p:spPr>
          <a:xfrm>
            <a:off x="1150144" y="2511754"/>
            <a:ext cx="546497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CE9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"Bash(*)"</a:t>
            </a:r>
            <a:endParaRPr lang="en-US" sz="725" dirty="0"/>
          </a:p>
        </p:txBody>
      </p:sp>
      <p:sp>
        <p:nvSpPr>
          <p:cNvPr id="20" name="Text 15"/>
          <p:cNvSpPr/>
          <p:nvPr/>
        </p:nvSpPr>
        <p:spPr>
          <a:xfrm>
            <a:off x="1696641" y="2511754"/>
            <a:ext cx="121444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],</a:t>
            </a:r>
            <a:endParaRPr lang="en-US" sz="725" dirty="0"/>
          </a:p>
        </p:txBody>
      </p:sp>
      <p:sp>
        <p:nvSpPr>
          <p:cNvPr id="21" name="Text 16"/>
          <p:cNvSpPr/>
          <p:nvPr/>
        </p:nvSpPr>
        <p:spPr>
          <a:xfrm>
            <a:off x="542925" y="2651754"/>
            <a:ext cx="364331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"deny"</a:t>
            </a:r>
            <a:endParaRPr lang="en-US" sz="725" dirty="0"/>
          </a:p>
        </p:txBody>
      </p:sp>
      <p:sp>
        <p:nvSpPr>
          <p:cNvPr id="22" name="Text 17"/>
          <p:cNvSpPr/>
          <p:nvPr/>
        </p:nvSpPr>
        <p:spPr>
          <a:xfrm>
            <a:off x="907256" y="2651754"/>
            <a:ext cx="182166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[</a:t>
            </a:r>
            <a:endParaRPr lang="en-US" sz="725" dirty="0"/>
          </a:p>
        </p:txBody>
      </p:sp>
      <p:sp>
        <p:nvSpPr>
          <p:cNvPr id="23" name="Text 18"/>
          <p:cNvSpPr/>
          <p:nvPr/>
        </p:nvSpPr>
        <p:spPr>
          <a:xfrm>
            <a:off x="1089422" y="2651754"/>
            <a:ext cx="971550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CE9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"Bash(rm -rf *)"</a:t>
            </a:r>
            <a:endParaRPr lang="en-US" sz="725" dirty="0"/>
          </a:p>
        </p:txBody>
      </p:sp>
      <p:sp>
        <p:nvSpPr>
          <p:cNvPr id="24" name="Text 19"/>
          <p:cNvSpPr/>
          <p:nvPr/>
        </p:nvSpPr>
        <p:spPr>
          <a:xfrm>
            <a:off x="2060972" y="2651754"/>
            <a:ext cx="60722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725" dirty="0"/>
          </a:p>
        </p:txBody>
      </p:sp>
      <p:sp>
        <p:nvSpPr>
          <p:cNvPr id="25" name="Text 20"/>
          <p:cNvSpPr/>
          <p:nvPr/>
        </p:nvSpPr>
        <p:spPr>
          <a:xfrm>
            <a:off x="542925" y="2791755"/>
            <a:ext cx="60722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25" dirty="0"/>
          </a:p>
        </p:txBody>
      </p:sp>
      <p:sp>
        <p:nvSpPr>
          <p:cNvPr id="26" name="Text 21"/>
          <p:cNvSpPr/>
          <p:nvPr/>
        </p:nvSpPr>
        <p:spPr>
          <a:xfrm>
            <a:off x="542925" y="2931756"/>
            <a:ext cx="60722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25" dirty="0"/>
          </a:p>
        </p:txBody>
      </p:sp>
      <p:sp>
        <p:nvSpPr>
          <p:cNvPr id="27" name="Text 22"/>
          <p:cNvSpPr/>
          <p:nvPr/>
        </p:nvSpPr>
        <p:spPr>
          <a:xfrm>
            <a:off x="435769" y="3282497"/>
            <a:ext cx="399335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原则：</a:t>
            </a:r>
            <a:r>
              <a:rPr lang="en-US" sz="72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在关键检查点验证，而非限制每一步。</a:t>
            </a:r>
            <a:endParaRPr lang="en-US" sz="725" dirty="0"/>
          </a:p>
        </p:txBody>
      </p:sp>
      <p:sp>
        <p:nvSpPr>
          <p:cNvPr id="28" name="Text 23"/>
          <p:cNvSpPr/>
          <p:nvPr/>
        </p:nvSpPr>
        <p:spPr>
          <a:xfrm>
            <a:off x="4714875" y="792956"/>
            <a:ext cx="3993356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23：自动化钩子</a:t>
            </a:r>
            <a:endParaRPr lang="en-US" sz="127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178719"/>
            <a:ext cx="114300" cy="1143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900613" y="1150144"/>
            <a:ext cx="228600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使用</a:t>
            </a:r>
            <a:endParaRPr lang="en-US" sz="835" dirty="0"/>
          </a:p>
        </p:txBody>
      </p:sp>
      <p:sp>
        <p:nvSpPr>
          <p:cNvPr id="31" name="Text 25"/>
          <p:cNvSpPr/>
          <p:nvPr/>
        </p:nvSpPr>
        <p:spPr>
          <a:xfrm>
            <a:off x="5200650" y="1150144"/>
            <a:ext cx="754391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PostToolUse</a:t>
            </a:r>
            <a:endParaRPr lang="en-US" sz="835" dirty="0"/>
          </a:p>
        </p:txBody>
      </p:sp>
      <p:sp>
        <p:nvSpPr>
          <p:cNvPr id="32" name="Text 26"/>
          <p:cNvSpPr/>
          <p:nvPr/>
        </p:nvSpPr>
        <p:spPr>
          <a:xfrm>
            <a:off x="6026479" y="1150144"/>
            <a:ext cx="1828800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钩子在任务完成后自动格式化代码。</a:t>
            </a:r>
            <a:endParaRPr lang="en-US" sz="835" dirty="0"/>
          </a:p>
        </p:txBody>
      </p:sp>
      <p:sp>
        <p:nvSpPr>
          <p:cNvPr id="33" name="Shape 27"/>
          <p:cNvSpPr/>
          <p:nvPr/>
        </p:nvSpPr>
        <p:spPr>
          <a:xfrm>
            <a:off x="4714875" y="1387673"/>
            <a:ext cx="3993356" cy="1068605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4" name="Text 28"/>
          <p:cNvSpPr/>
          <p:nvPr/>
        </p:nvSpPr>
        <p:spPr>
          <a:xfrm>
            <a:off x="4822031" y="1494830"/>
            <a:ext cx="3779044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自动运行格式化命令</a:t>
            </a:r>
            <a:endParaRPr lang="en-US" sz="725" dirty="0"/>
          </a:p>
        </p:txBody>
      </p:sp>
      <p:sp>
        <p:nvSpPr>
          <p:cNvPr id="35" name="Text 29"/>
          <p:cNvSpPr/>
          <p:nvPr/>
        </p:nvSpPr>
        <p:spPr>
          <a:xfrm>
            <a:off x="4822031" y="1638402"/>
            <a:ext cx="60722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725" dirty="0"/>
          </a:p>
        </p:txBody>
      </p:sp>
      <p:sp>
        <p:nvSpPr>
          <p:cNvPr id="36" name="Text 30"/>
          <p:cNvSpPr/>
          <p:nvPr/>
        </p:nvSpPr>
        <p:spPr>
          <a:xfrm>
            <a:off x="4822031" y="1778403"/>
            <a:ext cx="42505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"hooks"</a:t>
            </a:r>
            <a:endParaRPr lang="en-US" sz="725" dirty="0"/>
          </a:p>
        </p:txBody>
      </p:sp>
      <p:sp>
        <p:nvSpPr>
          <p:cNvPr id="37" name="Text 31"/>
          <p:cNvSpPr/>
          <p:nvPr/>
        </p:nvSpPr>
        <p:spPr>
          <a:xfrm>
            <a:off x="5247084" y="1778403"/>
            <a:ext cx="182166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725" dirty="0"/>
          </a:p>
        </p:txBody>
      </p:sp>
      <p:sp>
        <p:nvSpPr>
          <p:cNvPr id="38" name="Text 32"/>
          <p:cNvSpPr/>
          <p:nvPr/>
        </p:nvSpPr>
        <p:spPr>
          <a:xfrm>
            <a:off x="4822031" y="1918404"/>
            <a:ext cx="789384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"PostToolUse"</a:t>
            </a:r>
            <a:endParaRPr lang="en-US" sz="725" dirty="0"/>
          </a:p>
        </p:txBody>
      </p:sp>
      <p:sp>
        <p:nvSpPr>
          <p:cNvPr id="39" name="Text 33"/>
          <p:cNvSpPr/>
          <p:nvPr/>
        </p:nvSpPr>
        <p:spPr>
          <a:xfrm>
            <a:off x="5611416" y="1918404"/>
            <a:ext cx="303609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[{</a:t>
            </a:r>
            <a:endParaRPr lang="en-US" sz="725" dirty="0"/>
          </a:p>
        </p:txBody>
      </p:sp>
      <p:sp>
        <p:nvSpPr>
          <p:cNvPr id="40" name="Text 34"/>
          <p:cNvSpPr/>
          <p:nvPr/>
        </p:nvSpPr>
        <p:spPr>
          <a:xfrm>
            <a:off x="5915025" y="1918404"/>
            <a:ext cx="546497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"command"</a:t>
            </a:r>
            <a:endParaRPr lang="en-US" sz="725" dirty="0"/>
          </a:p>
        </p:txBody>
      </p:sp>
      <p:sp>
        <p:nvSpPr>
          <p:cNvPr id="41" name="Text 35"/>
          <p:cNvSpPr/>
          <p:nvPr/>
        </p:nvSpPr>
        <p:spPr>
          <a:xfrm>
            <a:off x="6461522" y="1918404"/>
            <a:ext cx="121444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725" dirty="0"/>
          </a:p>
        </p:txBody>
      </p:sp>
      <p:sp>
        <p:nvSpPr>
          <p:cNvPr id="42" name="Text 36"/>
          <p:cNvSpPr/>
          <p:nvPr/>
        </p:nvSpPr>
        <p:spPr>
          <a:xfrm>
            <a:off x="6582966" y="1918404"/>
            <a:ext cx="971550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CE9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"npm run format"</a:t>
            </a:r>
            <a:endParaRPr lang="en-US" sz="725" dirty="0"/>
          </a:p>
        </p:txBody>
      </p:sp>
      <p:sp>
        <p:nvSpPr>
          <p:cNvPr id="43" name="Text 37"/>
          <p:cNvSpPr/>
          <p:nvPr/>
        </p:nvSpPr>
        <p:spPr>
          <a:xfrm>
            <a:off x="7554516" y="1918404"/>
            <a:ext cx="182166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}]</a:t>
            </a:r>
            <a:endParaRPr lang="en-US" sz="725" dirty="0"/>
          </a:p>
        </p:txBody>
      </p:sp>
      <p:sp>
        <p:nvSpPr>
          <p:cNvPr id="44" name="Text 38"/>
          <p:cNvSpPr/>
          <p:nvPr/>
        </p:nvSpPr>
        <p:spPr>
          <a:xfrm>
            <a:off x="4822031" y="2058405"/>
            <a:ext cx="60722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25" dirty="0"/>
          </a:p>
        </p:txBody>
      </p:sp>
      <p:sp>
        <p:nvSpPr>
          <p:cNvPr id="45" name="Text 39"/>
          <p:cNvSpPr/>
          <p:nvPr/>
        </p:nvSpPr>
        <p:spPr>
          <a:xfrm>
            <a:off x="4822031" y="2198405"/>
            <a:ext cx="60722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25" dirty="0"/>
          </a:p>
        </p:txBody>
      </p:sp>
      <p:sp>
        <p:nvSpPr>
          <p:cNvPr id="51" name="Shape 44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52" name="Text 45"/>
          <p:cNvSpPr/>
          <p:nvPr/>
        </p:nvSpPr>
        <p:spPr>
          <a:xfrm>
            <a:off x="7144" y="4910435"/>
            <a:ext cx="9715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安全与自动化</a:t>
            </a:r>
            <a:endParaRPr lang="en-US" sz="835" dirty="0"/>
          </a:p>
        </p:txBody>
      </p:sp>
      <p:sp>
        <p:nvSpPr>
          <p:cNvPr id="53" name="Text 46"/>
          <p:cNvSpPr/>
          <p:nvPr/>
        </p:nvSpPr>
        <p:spPr>
          <a:xfrm>
            <a:off x="8376047" y="4918472"/>
            <a:ext cx="760809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8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4" y="7144"/>
            <a:ext cx="9129713" cy="214313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Text 1"/>
          <p:cNvSpPr/>
          <p:nvPr/>
        </p:nvSpPr>
        <p:spPr>
          <a:xfrm>
            <a:off x="535781" y="48220"/>
            <a:ext cx="1335881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claude-code --advanced</a:t>
            </a:r>
            <a:endParaRPr lang="en-US" sz="725" dirty="0"/>
          </a:p>
        </p:txBody>
      </p:sp>
      <p:sp>
        <p:nvSpPr>
          <p:cNvPr id="6" name="Text 2"/>
          <p:cNvSpPr/>
          <p:nvPr/>
        </p:nvSpPr>
        <p:spPr>
          <a:xfrm>
            <a:off x="435769" y="839809"/>
            <a:ext cx="3993356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高级功能：任务与定时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5769" y="1386306"/>
            <a:ext cx="260032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24 &amp; 25：无头模式与任务系统</a:t>
            </a:r>
            <a:endParaRPr lang="en-US" sz="127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1772069"/>
            <a:ext cx="128588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794" y="1743494"/>
            <a:ext cx="457200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无头模式</a:t>
            </a:r>
            <a:endParaRPr lang="en-US" sz="785" dirty="0"/>
          </a:p>
        </p:txBody>
      </p:sp>
      <p:sp>
        <p:nvSpPr>
          <p:cNvPr id="10" name="Text 5"/>
          <p:cNvSpPr/>
          <p:nvPr/>
        </p:nvSpPr>
        <p:spPr>
          <a:xfrm>
            <a:off x="1164431" y="1743494"/>
            <a:ext cx="1485900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：直接从命令行传递提示词。</a:t>
            </a:r>
            <a:endParaRPr lang="en-US" sz="835" dirty="0"/>
          </a:p>
        </p:txBody>
      </p:sp>
      <p:sp>
        <p:nvSpPr>
          <p:cNvPr id="11" name="Shape 6"/>
          <p:cNvSpPr/>
          <p:nvPr/>
        </p:nvSpPr>
        <p:spPr>
          <a:xfrm>
            <a:off x="435769" y="1981023"/>
            <a:ext cx="3993356" cy="368601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35769" y="1981023"/>
            <a:ext cx="3993356" cy="368601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</a:t>
            </a: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-p </a:t>
            </a:r>
            <a:r>
              <a:rPr lang="en-US" sz="725" dirty="0">
                <a:solidFill>
                  <a:srgbClr val="CE91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"分析认证系统并建议改进"</a:t>
            </a:r>
            <a:endParaRPr lang="en-US" sz="725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9" y="2506787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506" y="2478212"/>
            <a:ext cx="567928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系统</a:t>
            </a:r>
            <a:endParaRPr lang="en-US" sz="785" dirty="0"/>
          </a:p>
        </p:txBody>
      </p:sp>
      <p:sp>
        <p:nvSpPr>
          <p:cNvPr id="15" name="Text 9"/>
          <p:cNvSpPr/>
          <p:nvPr/>
        </p:nvSpPr>
        <p:spPr>
          <a:xfrm>
            <a:off x="1260872" y="2478212"/>
            <a:ext cx="1485900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：持久化清单，跨会话共享。</a:t>
            </a:r>
            <a:endParaRPr lang="en-US" sz="835" dirty="0"/>
          </a:p>
        </p:txBody>
      </p:sp>
      <p:sp>
        <p:nvSpPr>
          <p:cNvPr id="16" name="Shape 10"/>
          <p:cNvSpPr/>
          <p:nvPr/>
        </p:nvSpPr>
        <p:spPr>
          <a:xfrm>
            <a:off x="435769" y="2715741"/>
            <a:ext cx="3993356" cy="508602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59911" y="2855980"/>
            <a:ext cx="1917065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zh-CN" alt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为新</a:t>
            </a:r>
            <a:r>
              <a:rPr lang="en-US" altLang="zh-CN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xxx</a:t>
            </a:r>
            <a:r>
              <a:rPr lang="zh-CN" alt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的开发拆解</a:t>
            </a:r>
            <a:r>
              <a:rPr lang="en-US" altLang="zh-CN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todos, </a:t>
            </a:r>
            <a:r>
              <a:rPr lang="zh-CN" alt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然后再执行</a:t>
            </a: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725" dirty="0"/>
          </a:p>
        </p:txBody>
      </p:sp>
      <p:sp>
        <p:nvSpPr>
          <p:cNvPr id="20" name="Text 14"/>
          <p:cNvSpPr/>
          <p:nvPr/>
        </p:nvSpPr>
        <p:spPr>
          <a:xfrm>
            <a:off x="4714875" y="792956"/>
            <a:ext cx="194056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26：定时任务 (/loop)</a:t>
            </a:r>
            <a:endParaRPr lang="en-US" sz="12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178719"/>
            <a:ext cx="114300" cy="114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00613" y="1150144"/>
            <a:ext cx="2260997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按间隔重复执行，用于监控部署或审查 PR。</a:t>
            </a:r>
            <a:endParaRPr lang="en-US" sz="835" dirty="0"/>
          </a:p>
        </p:txBody>
      </p:sp>
      <p:sp>
        <p:nvSpPr>
          <p:cNvPr id="23" name="Shape 16"/>
          <p:cNvSpPr/>
          <p:nvPr/>
        </p:nvSpPr>
        <p:spPr>
          <a:xfrm>
            <a:off x="4714875" y="1387673"/>
            <a:ext cx="3993356" cy="508602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714875" y="1387673"/>
            <a:ext cx="3993356" cy="508602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/loop</a:t>
            </a: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5m 检查部署是否完成</a:t>
            </a: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/loop</a:t>
            </a: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20m /review-pr 1234</a:t>
            </a:r>
            <a:endParaRPr lang="en-US" sz="725" dirty="0"/>
          </a:p>
        </p:txBody>
      </p:sp>
      <p:sp>
        <p:nvSpPr>
          <p:cNvPr id="25" name="Text 18"/>
          <p:cNvSpPr/>
          <p:nvPr/>
        </p:nvSpPr>
        <p:spPr>
          <a:xfrm>
            <a:off x="4714875" y="2024862"/>
            <a:ext cx="152908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007A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技巧 27：代码简化器</a:t>
            </a:r>
            <a:endParaRPr lang="en-US" sz="127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2410625"/>
            <a:ext cx="142875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29188" y="2382050"/>
            <a:ext cx="2400300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专门子代理，在不改变功能的情况下重构代码。</a:t>
            </a:r>
            <a:endParaRPr lang="en-US" sz="835" dirty="0"/>
          </a:p>
        </p:txBody>
      </p:sp>
      <p:sp>
        <p:nvSpPr>
          <p:cNvPr id="28" name="Shape 20"/>
          <p:cNvSpPr/>
          <p:nvPr/>
        </p:nvSpPr>
        <p:spPr>
          <a:xfrm>
            <a:off x="4714875" y="2619580"/>
            <a:ext cx="3993356" cy="368601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714875" y="2619580"/>
            <a:ext cx="3993356" cy="368601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EC9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/simplify</a:t>
            </a:r>
            <a:r>
              <a:rPr lang="en-US" sz="725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725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自动清理、重构和简化</a:t>
            </a:r>
            <a:endParaRPr lang="en-US" sz="725" dirty="0"/>
          </a:p>
        </p:txBody>
      </p:sp>
      <p:sp>
        <p:nvSpPr>
          <p:cNvPr id="30" name="Text 22"/>
          <p:cNvSpPr/>
          <p:nvPr/>
        </p:nvSpPr>
        <p:spPr>
          <a:xfrm>
            <a:off x="4714875" y="3081049"/>
            <a:ext cx="399335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建议：</a:t>
            </a:r>
            <a:r>
              <a:rPr lang="en-US" sz="725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在提交 PR 前或 AI 生成代码后使用。</a:t>
            </a:r>
            <a:endParaRPr lang="en-US" sz="725" dirty="0"/>
          </a:p>
        </p:txBody>
      </p:sp>
      <p:sp>
        <p:nvSpPr>
          <p:cNvPr id="31" name="Shape 23"/>
          <p:cNvSpPr/>
          <p:nvPr/>
        </p:nvSpPr>
        <p:spPr>
          <a:xfrm>
            <a:off x="7144" y="4850606"/>
            <a:ext cx="9129713" cy="285750"/>
          </a:xfrm>
          <a:prstGeom prst="rect">
            <a:avLst/>
          </a:prstGeom>
          <a:solidFill>
            <a:srgbClr val="007ACC"/>
          </a:solidFill>
        </p:spPr>
      </p:sp>
      <p:sp>
        <p:nvSpPr>
          <p:cNvPr id="32" name="Text 24"/>
          <p:cNvSpPr/>
          <p:nvPr/>
        </p:nvSpPr>
        <p:spPr>
          <a:xfrm>
            <a:off x="7144" y="4910435"/>
            <a:ext cx="857250" cy="166092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高级自动化</a:t>
            </a:r>
            <a:endParaRPr lang="en-US" sz="835" dirty="0"/>
          </a:p>
        </p:txBody>
      </p:sp>
      <p:sp>
        <p:nvSpPr>
          <p:cNvPr id="33" name="Text 25"/>
          <p:cNvSpPr/>
          <p:nvPr/>
        </p:nvSpPr>
        <p:spPr>
          <a:xfrm>
            <a:off x="8376047" y="4918472"/>
            <a:ext cx="760809" cy="150019"/>
          </a:xfrm>
          <a:prstGeom prst="rect">
            <a:avLst/>
          </a:prstGeom>
          <a:noFill/>
        </p:spPr>
        <p:txBody>
          <a:bodyPr wrap="none" lIns="170053" tIns="0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</a:t>
            </a:r>
            <a:endParaRPr lang="en-US" sz="83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4653"/>
</p:tagLst>
</file>

<file path=ppt/tags/tag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4653"/>
</p:tagLst>
</file>

<file path=ppt/tags/tag1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4653"/>
  <p:tag name="KSO_WM_TEMPLATE_CATEGORY" val="custom"/>
  <p:tag name="KSO_WM_TEMPLATE_MASTER_TYPE" val="0"/>
</p:tagLst>
</file>

<file path=ppt/tags/tag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4653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653"/>
  <p:tag name="KSO_WM_TEMPLATE_CATEGORY" val="custom"/>
  <p:tag name="KSO_WM_UNIT_ISCONTENTSTITLE" val="0"/>
  <p:tag name="KSO_WM_UNIT_PRESET_TEXT" val="单击此处&#10;添加文档标题"/>
  <p:tag name="KSO_WM_UNIT_TEXT_TYPE" val="1"/>
  <p:tag name="KSO_WM_UNIT_VALUE" val="16"/>
</p:tagLst>
</file>

<file path=ppt/tags/tag1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40494653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653"/>
  <p:tag name="KSO_WM_TEMPLATE_CATEGORY" val="custom"/>
  <p:tag name="KSO_WM_UNIT_TEXT_LAYER_COUNT" val="1"/>
  <p:tag name="KSO_WM_UNIT_PRESET_TEXT" val="汇报人：WPS"/>
  <p:tag name="KSO_WM_UNIT_VALUE" val="11"/>
  <p:tag name="KSO_WM_UNIT_TEXT_TYPE" val="1"/>
</p:tagLst>
</file>

<file path=ppt/tags/tag1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40494653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653"/>
  <p:tag name="KSO_WM_TEMPLATE_CATEGORY" val="custom"/>
  <p:tag name="KSO_WM_UNIT_ISCONTENTSTITLE" val="0"/>
  <p:tag name="KSO_WM_UNIT_PRESET_TEXT" val="单击编辑添加副标题内容"/>
  <p:tag name="KSO_WM_UNIT_TEXT_TYPE" val="1"/>
  <p:tag name="KSO_WM_UNIT_VALUE" val="38"/>
</p:tagLst>
</file>

<file path=ppt/tags/tag17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4653"/>
  <p:tag name="KSO_WM_TEMPLATE_CATEGORY" val="custom"/>
  <p:tag name="KSO_WM_SLIDE_INDEX" val="1"/>
  <p:tag name="KSO_WM_SLIDE_ID" val="custom40494653_1"/>
  <p:tag name="KSO_WM_TEMPLATE_MASTER_TYPE" val="0"/>
  <p:tag name="KSO_WM_SLIDE_LAYOUT" val="a_b_f"/>
  <p:tag name="KSO_WM_SLIDE_LAYOUT_CNT" val="1_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可爱卡通开学季教学通用模板">
  <a:themeElements>
    <a:clrScheme name="自定义 426">
      <a:dk1>
        <a:srgbClr val="000000"/>
      </a:dk1>
      <a:lt1>
        <a:srgbClr val="FFFFFF"/>
      </a:lt1>
      <a:dk2>
        <a:srgbClr val="302400"/>
      </a:dk2>
      <a:lt2>
        <a:srgbClr val="FEF6E9"/>
      </a:lt2>
      <a:accent1>
        <a:srgbClr val="4379C9"/>
      </a:accent1>
      <a:accent2>
        <a:srgbClr val="EE6F56"/>
      </a:accent2>
      <a:accent3>
        <a:srgbClr val="F3B241"/>
      </a:accent3>
      <a:accent4>
        <a:srgbClr val="ED7D3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0">
      <a:majorFont>
        <a:latin typeface="汉仪雅酷黑 65W"/>
        <a:ea typeface="汉仪雅酷黑 65W"/>
        <a:cs typeface=""/>
      </a:majorFont>
      <a:minorFont>
        <a:latin typeface="汉仪雅酷黑 65W"/>
        <a:ea typeface="汉仪雅酷黑 65W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3224</Words>
  <Application>WPS 演示</Application>
  <PresentationFormat>On-screen Show (16:9)</PresentationFormat>
  <Paragraphs>498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7" baseType="lpstr">
      <vt:lpstr>Arial</vt:lpstr>
      <vt:lpstr>宋体</vt:lpstr>
      <vt:lpstr>Wingdings</vt:lpstr>
      <vt:lpstr>JetBrains Mono</vt:lpstr>
      <vt:lpstr>苹方-简</vt:lpstr>
      <vt:lpstr>JetBrains Mono</vt:lpstr>
      <vt:lpstr>JetBrains Mono</vt:lpstr>
      <vt:lpstr>monospace</vt:lpstr>
      <vt:lpstr>monospace</vt:lpstr>
      <vt:lpstr>monospace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Color Emoji</vt:lpstr>
      <vt:lpstr>可可糖分超标-商</vt:lpstr>
      <vt:lpstr>汉仪雅酷黑 65W</vt:lpstr>
      <vt:lpstr>汉仪中黑KW</vt:lpstr>
      <vt:lpstr>等线</vt:lpstr>
      <vt:lpstr>汉仪中等线KW</vt:lpstr>
      <vt:lpstr>Office Theme</vt:lpstr>
      <vt:lpstr>可爱卡通开学季教学通用模板</vt:lpstr>
      <vt:lpstr>Claude Code 高效使用技巧指南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晁岳攀</cp:lastModifiedBy>
  <cp:revision>25</cp:revision>
  <dcterms:created xsi:type="dcterms:W3CDTF">2026-03-09T09:50:18Z</dcterms:created>
  <dcterms:modified xsi:type="dcterms:W3CDTF">2026-03-09T09:50:18Z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781A56A9B3D23478B17AAE69350D0011_42</vt:lpwstr>
  </property>
  <property fmtid="{D5CDD505-2E9C-101B-9397-08002B2CF9AE}" pid="3" name="KSOProductBuildVer">
    <vt:lpwstr>2052-7.4.1.8983</vt:lpwstr>
  </property>
</Properties>
</file>